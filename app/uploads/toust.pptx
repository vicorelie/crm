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  <p:sldMasterId id="2147483684" r:id="rId2"/>
    <p:sldMasterId id="2147483696" r:id="rId3"/>
    <p:sldMasterId id="2147483708" r:id="rId4"/>
  </p:sldMasterIdLst>
  <p:sldIdLst>
    <p:sldId id="1893" r:id="rId5"/>
    <p:sldId id="4444" r:id="rId6"/>
    <p:sldId id="2337" r:id="rId7"/>
    <p:sldId id="2343" r:id="rId8"/>
    <p:sldId id="2680" r:id="rId9"/>
    <p:sldId id="4442" r:id="rId10"/>
    <p:sldId id="586" r:id="rId11"/>
    <p:sldId id="2342" r:id="rId12"/>
    <p:sldId id="2346" r:id="rId13"/>
    <p:sldId id="2344" r:id="rId14"/>
    <p:sldId id="2345" r:id="rId15"/>
    <p:sldId id="2334" r:id="rId16"/>
    <p:sldId id="2333" r:id="rId17"/>
    <p:sldId id="2341" r:id="rId18"/>
    <p:sldId id="2339" r:id="rId19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540547-B224-4146-8F07-4B7EC26D63D5}" v="4" dt="2024-01-23T17:43:05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8302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איריס מוריוסף" userId="e3fff09381041c0f" providerId="LiveId" clId="{62540547-B224-4146-8F07-4B7EC26D63D5}"/>
    <pc:docChg chg="custSel addSld modSld">
      <pc:chgData name="איריס מוריוסף" userId="e3fff09381041c0f" providerId="LiveId" clId="{62540547-B224-4146-8F07-4B7EC26D63D5}" dt="2024-01-23T17:43:05.152" v="4"/>
      <pc:docMkLst>
        <pc:docMk/>
      </pc:docMkLst>
      <pc:sldChg chg="add">
        <pc:chgData name="איריס מוריוסף" userId="e3fff09381041c0f" providerId="LiveId" clId="{62540547-B224-4146-8F07-4B7EC26D63D5}" dt="2024-01-23T17:41:47.799" v="0"/>
        <pc:sldMkLst>
          <pc:docMk/>
          <pc:sldMk cId="517546039" sldId="586"/>
        </pc:sldMkLst>
      </pc:sldChg>
      <pc:sldChg chg="delSp add mod delAnim">
        <pc:chgData name="איריס מוריוסף" userId="e3fff09381041c0f" providerId="LiveId" clId="{62540547-B224-4146-8F07-4B7EC26D63D5}" dt="2024-01-23T17:42:36.598" v="3" actId="478"/>
        <pc:sldMkLst>
          <pc:docMk/>
          <pc:sldMk cId="2950414712" sldId="2333"/>
        </pc:sldMkLst>
        <pc:picChg chg="del">
          <ac:chgData name="איריס מוריוסף" userId="e3fff09381041c0f" providerId="LiveId" clId="{62540547-B224-4146-8F07-4B7EC26D63D5}" dt="2024-01-23T17:42:36.598" v="3" actId="478"/>
          <ac:picMkLst>
            <pc:docMk/>
            <pc:sldMk cId="2950414712" sldId="2333"/>
            <ac:picMk id="5" creationId="{21C33DAA-A2D5-40BD-A987-AF837A2BF3B1}"/>
          </ac:picMkLst>
        </pc:picChg>
      </pc:sldChg>
      <pc:sldChg chg="add">
        <pc:chgData name="איריס מוריוסף" userId="e3fff09381041c0f" providerId="LiveId" clId="{62540547-B224-4146-8F07-4B7EC26D63D5}" dt="2024-01-23T17:42:18.580" v="1"/>
        <pc:sldMkLst>
          <pc:docMk/>
          <pc:sldMk cId="827031780" sldId="2334"/>
        </pc:sldMkLst>
      </pc:sldChg>
      <pc:sldChg chg="add">
        <pc:chgData name="איריס מוריוסף" userId="e3fff09381041c0f" providerId="LiveId" clId="{62540547-B224-4146-8F07-4B7EC26D63D5}" dt="2024-01-23T17:43:05.152" v="4"/>
        <pc:sldMkLst>
          <pc:docMk/>
          <pc:sldMk cId="1573844047" sldId="2339"/>
        </pc:sldMkLst>
      </pc:sldChg>
      <pc:sldChg chg="add">
        <pc:chgData name="איריס מוריוסף" userId="e3fff09381041c0f" providerId="LiveId" clId="{62540547-B224-4146-8F07-4B7EC26D63D5}" dt="2024-01-23T17:43:05.152" v="4"/>
        <pc:sldMkLst>
          <pc:docMk/>
          <pc:sldMk cId="4224585655" sldId="2341"/>
        </pc:sldMkLst>
      </pc:sldChg>
      <pc:sldChg chg="add">
        <pc:chgData name="איריס מוריוסף" userId="e3fff09381041c0f" providerId="LiveId" clId="{62540547-B224-4146-8F07-4B7EC26D63D5}" dt="2024-01-23T17:42:18.580" v="1"/>
        <pc:sldMkLst>
          <pc:docMk/>
          <pc:sldMk cId="1870329075" sldId="2342"/>
        </pc:sldMkLst>
      </pc:sldChg>
      <pc:sldChg chg="add">
        <pc:chgData name="איריס מוריוסף" userId="e3fff09381041c0f" providerId="LiveId" clId="{62540547-B224-4146-8F07-4B7EC26D63D5}" dt="2024-01-23T17:41:47.799" v="0"/>
        <pc:sldMkLst>
          <pc:docMk/>
          <pc:sldMk cId="2899385789" sldId="2343"/>
        </pc:sldMkLst>
      </pc:sldChg>
      <pc:sldChg chg="add">
        <pc:chgData name="איריס מוריוסף" userId="e3fff09381041c0f" providerId="LiveId" clId="{62540547-B224-4146-8F07-4B7EC26D63D5}" dt="2024-01-23T17:42:18.580" v="1"/>
        <pc:sldMkLst>
          <pc:docMk/>
          <pc:sldMk cId="315619784" sldId="2344"/>
        </pc:sldMkLst>
      </pc:sldChg>
      <pc:sldChg chg="add">
        <pc:chgData name="איריס מוריוסף" userId="e3fff09381041c0f" providerId="LiveId" clId="{62540547-B224-4146-8F07-4B7EC26D63D5}" dt="2024-01-23T17:42:18.580" v="1"/>
        <pc:sldMkLst>
          <pc:docMk/>
          <pc:sldMk cId="3635379208" sldId="2345"/>
        </pc:sldMkLst>
      </pc:sldChg>
      <pc:sldChg chg="add">
        <pc:chgData name="איריס מוריוסף" userId="e3fff09381041c0f" providerId="LiveId" clId="{62540547-B224-4146-8F07-4B7EC26D63D5}" dt="2024-01-23T17:42:18.580" v="1"/>
        <pc:sldMkLst>
          <pc:docMk/>
          <pc:sldMk cId="3316917667" sldId="2346"/>
        </pc:sldMkLst>
      </pc:sldChg>
      <pc:sldChg chg="add">
        <pc:chgData name="איריס מוריוסף" userId="e3fff09381041c0f" providerId="LiveId" clId="{62540547-B224-4146-8F07-4B7EC26D63D5}" dt="2024-01-23T17:41:47.799" v="0"/>
        <pc:sldMkLst>
          <pc:docMk/>
          <pc:sldMk cId="138186299" sldId="2680"/>
        </pc:sldMkLst>
      </pc:sldChg>
      <pc:sldChg chg="add">
        <pc:chgData name="איריס מוריוסף" userId="e3fff09381041c0f" providerId="LiveId" clId="{62540547-B224-4146-8F07-4B7EC26D63D5}" dt="2024-01-23T17:41:47.799" v="0"/>
        <pc:sldMkLst>
          <pc:docMk/>
          <pc:sldMk cId="2151782562" sldId="444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8D25A3-1499-4621-B1C3-65A498262DCD}" type="doc">
      <dgm:prSet loTypeId="urn:microsoft.com/office/officeart/2005/8/layout/pyramid3" loCatId="pyramid" qsTypeId="urn:microsoft.com/office/officeart/2005/8/quickstyle/simple4" qsCatId="simple" csTypeId="urn:microsoft.com/office/officeart/2005/8/colors/accent0_3" csCatId="mainScheme" phldr="1"/>
      <dgm:spPr/>
    </dgm:pt>
    <dgm:pt modelId="{CF5BF94A-5B6C-4F5E-AC31-24113440BE9D}">
      <dgm:prSet phldrT="[Text]"/>
      <dgm:spPr>
        <a:solidFill>
          <a:schemeClr val="bg2">
            <a:lumMod val="75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he-IL" dirty="0"/>
            <a:t>1700</a:t>
          </a:r>
          <a:endParaRPr lang="en-US" dirty="0"/>
        </a:p>
      </dgm:t>
    </dgm:pt>
    <dgm:pt modelId="{9C72B949-21E1-45C4-BEE2-E603AFEE21B5}" type="parTrans" cxnId="{3A20B462-FB3D-4FB0-AB68-60DBBAB1316F}">
      <dgm:prSet/>
      <dgm:spPr/>
      <dgm:t>
        <a:bodyPr/>
        <a:lstStyle/>
        <a:p>
          <a:endParaRPr lang="en-US"/>
        </a:p>
      </dgm:t>
    </dgm:pt>
    <dgm:pt modelId="{4F647950-10BD-45AF-8948-B9A3A4F65A28}" type="sibTrans" cxnId="{3A20B462-FB3D-4FB0-AB68-60DBBAB1316F}">
      <dgm:prSet/>
      <dgm:spPr/>
      <dgm:t>
        <a:bodyPr/>
        <a:lstStyle/>
        <a:p>
          <a:endParaRPr lang="en-US"/>
        </a:p>
      </dgm:t>
    </dgm:pt>
    <dgm:pt modelId="{EABEE8D3-035E-40BC-B3C4-372B8AE0895F}">
      <dgm:prSet phldrT="[Text]" custT="1"/>
      <dgm:spPr>
        <a:solidFill>
          <a:srgbClr val="6DD9FF"/>
        </a:solidFill>
      </dgm:spPr>
      <dgm:t>
        <a:bodyPr/>
        <a:lstStyle/>
        <a:p>
          <a:r>
            <a:rPr lang="he-IL" sz="3200" b="1" dirty="0"/>
            <a:t>100</a:t>
          </a:r>
          <a:endParaRPr lang="en-US" sz="3200" b="1" dirty="0"/>
        </a:p>
      </dgm:t>
    </dgm:pt>
    <dgm:pt modelId="{2DA3F8E3-AB2B-44D4-B2BA-C47FE261EA90}" type="parTrans" cxnId="{98B03586-BF5B-4110-8027-1DEE936E008C}">
      <dgm:prSet/>
      <dgm:spPr/>
      <dgm:t>
        <a:bodyPr/>
        <a:lstStyle/>
        <a:p>
          <a:endParaRPr lang="en-US"/>
        </a:p>
      </dgm:t>
    </dgm:pt>
    <dgm:pt modelId="{82F9A13A-9F23-4A1C-8A28-B0C80B0D663F}" type="sibTrans" cxnId="{98B03586-BF5B-4110-8027-1DEE936E008C}">
      <dgm:prSet/>
      <dgm:spPr/>
      <dgm:t>
        <a:bodyPr/>
        <a:lstStyle/>
        <a:p>
          <a:endParaRPr lang="en-US"/>
        </a:p>
      </dgm:t>
    </dgm:pt>
    <dgm:pt modelId="{B4D26BBA-5E5C-4982-A1C3-AC2CFAD9D19D}">
      <dgm:prSet phldrT="[Text]"/>
      <dgm:spPr>
        <a:solidFill>
          <a:srgbClr val="FFDB69"/>
        </a:solidFill>
      </dgm:spPr>
      <dgm:t>
        <a:bodyPr/>
        <a:lstStyle/>
        <a:p>
          <a:r>
            <a:rPr lang="he-IL" dirty="0"/>
            <a:t>300</a:t>
          </a:r>
          <a:endParaRPr lang="en-US" dirty="0"/>
        </a:p>
      </dgm:t>
    </dgm:pt>
    <dgm:pt modelId="{728B750A-765A-4342-AAD6-3B2C62382B9B}" type="sibTrans" cxnId="{985D7914-164A-48FD-85E1-9D9533E2D3D8}">
      <dgm:prSet/>
      <dgm:spPr/>
      <dgm:t>
        <a:bodyPr/>
        <a:lstStyle/>
        <a:p>
          <a:endParaRPr lang="en-US"/>
        </a:p>
      </dgm:t>
    </dgm:pt>
    <dgm:pt modelId="{A2388DCC-DAA4-4533-AED5-A2DAFEC61B2C}" type="parTrans" cxnId="{985D7914-164A-48FD-85E1-9D9533E2D3D8}">
      <dgm:prSet/>
      <dgm:spPr/>
      <dgm:t>
        <a:bodyPr/>
        <a:lstStyle/>
        <a:p>
          <a:endParaRPr lang="en-US"/>
        </a:p>
      </dgm:t>
    </dgm:pt>
    <dgm:pt modelId="{E6F57482-351C-4EDD-8110-17B8D596CDC5}" type="pres">
      <dgm:prSet presAssocID="{4E8D25A3-1499-4621-B1C3-65A498262DCD}" presName="Name0" presStyleCnt="0">
        <dgm:presLayoutVars>
          <dgm:dir/>
          <dgm:animLvl val="lvl"/>
          <dgm:resizeHandles val="exact"/>
        </dgm:presLayoutVars>
      </dgm:prSet>
      <dgm:spPr/>
    </dgm:pt>
    <dgm:pt modelId="{9C1872C9-0FBB-4307-8609-A63CF12083B8}" type="pres">
      <dgm:prSet presAssocID="{CF5BF94A-5B6C-4F5E-AC31-24113440BE9D}" presName="Name8" presStyleCnt="0"/>
      <dgm:spPr/>
    </dgm:pt>
    <dgm:pt modelId="{580C46C7-DCB6-4E33-B295-6F79B2FEB8E4}" type="pres">
      <dgm:prSet presAssocID="{CF5BF94A-5B6C-4F5E-AC31-24113440BE9D}" presName="level" presStyleLbl="node1" presStyleIdx="0" presStyleCnt="3" custLinFactNeighborX="571" custLinFactNeighborY="4378">
        <dgm:presLayoutVars>
          <dgm:chMax val="1"/>
          <dgm:bulletEnabled val="1"/>
        </dgm:presLayoutVars>
      </dgm:prSet>
      <dgm:spPr/>
    </dgm:pt>
    <dgm:pt modelId="{7DCD93EB-1124-4B7B-8F10-103E40E83108}" type="pres">
      <dgm:prSet presAssocID="{CF5BF94A-5B6C-4F5E-AC31-24113440BE9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22AB580-3949-4777-8821-F550589586A1}" type="pres">
      <dgm:prSet presAssocID="{B4D26BBA-5E5C-4982-A1C3-AC2CFAD9D19D}" presName="Name8" presStyleCnt="0"/>
      <dgm:spPr/>
    </dgm:pt>
    <dgm:pt modelId="{25364859-0D0D-4E85-A0FF-728E432897EA}" type="pres">
      <dgm:prSet presAssocID="{B4D26BBA-5E5C-4982-A1C3-AC2CFAD9D19D}" presName="level" presStyleLbl="node1" presStyleIdx="1" presStyleCnt="3" custScaleY="91066">
        <dgm:presLayoutVars>
          <dgm:chMax val="1"/>
          <dgm:bulletEnabled val="1"/>
        </dgm:presLayoutVars>
      </dgm:prSet>
      <dgm:spPr/>
    </dgm:pt>
    <dgm:pt modelId="{9885F7BA-AB2D-406A-8DB8-2B5A03D0CE43}" type="pres">
      <dgm:prSet presAssocID="{B4D26BBA-5E5C-4982-A1C3-AC2CFAD9D19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9DE9AB7-9B74-43C5-ACA5-D7D13296B74F}" type="pres">
      <dgm:prSet presAssocID="{EABEE8D3-035E-40BC-B3C4-372B8AE0895F}" presName="Name8" presStyleCnt="0"/>
      <dgm:spPr/>
    </dgm:pt>
    <dgm:pt modelId="{894784E0-4BA3-45E5-B337-DF1DDE66C036}" type="pres">
      <dgm:prSet presAssocID="{EABEE8D3-035E-40BC-B3C4-372B8AE0895F}" presName="level" presStyleLbl="node1" presStyleIdx="2" presStyleCnt="3" custLinFactNeighborY="3156">
        <dgm:presLayoutVars>
          <dgm:chMax val="1"/>
          <dgm:bulletEnabled val="1"/>
        </dgm:presLayoutVars>
      </dgm:prSet>
      <dgm:spPr/>
    </dgm:pt>
    <dgm:pt modelId="{723B9879-0B20-4468-A4B9-5F230723A11B}" type="pres">
      <dgm:prSet presAssocID="{EABEE8D3-035E-40BC-B3C4-372B8AE0895F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85D7914-164A-48FD-85E1-9D9533E2D3D8}" srcId="{4E8D25A3-1499-4621-B1C3-65A498262DCD}" destId="{B4D26BBA-5E5C-4982-A1C3-AC2CFAD9D19D}" srcOrd="1" destOrd="0" parTransId="{A2388DCC-DAA4-4533-AED5-A2DAFEC61B2C}" sibTransId="{728B750A-765A-4342-AAD6-3B2C62382B9B}"/>
    <dgm:cxn modelId="{3E0E781E-2167-40D8-B5B4-B93D46D885F4}" type="presOf" srcId="{CF5BF94A-5B6C-4F5E-AC31-24113440BE9D}" destId="{580C46C7-DCB6-4E33-B295-6F79B2FEB8E4}" srcOrd="0" destOrd="0" presId="urn:microsoft.com/office/officeart/2005/8/layout/pyramid3"/>
    <dgm:cxn modelId="{3A20B462-FB3D-4FB0-AB68-60DBBAB1316F}" srcId="{4E8D25A3-1499-4621-B1C3-65A498262DCD}" destId="{CF5BF94A-5B6C-4F5E-AC31-24113440BE9D}" srcOrd="0" destOrd="0" parTransId="{9C72B949-21E1-45C4-BEE2-E603AFEE21B5}" sibTransId="{4F647950-10BD-45AF-8948-B9A3A4F65A28}"/>
    <dgm:cxn modelId="{B2C4A045-D0A3-4144-969A-CACA50BC511B}" type="presOf" srcId="{B4D26BBA-5E5C-4982-A1C3-AC2CFAD9D19D}" destId="{25364859-0D0D-4E85-A0FF-728E432897EA}" srcOrd="0" destOrd="0" presId="urn:microsoft.com/office/officeart/2005/8/layout/pyramid3"/>
    <dgm:cxn modelId="{BF4BEF66-2703-48EB-A16C-C73C34961A77}" type="presOf" srcId="{B4D26BBA-5E5C-4982-A1C3-AC2CFAD9D19D}" destId="{9885F7BA-AB2D-406A-8DB8-2B5A03D0CE43}" srcOrd="1" destOrd="0" presId="urn:microsoft.com/office/officeart/2005/8/layout/pyramid3"/>
    <dgm:cxn modelId="{1D0C534C-D28E-4BB5-B3B8-6F96B40429CA}" type="presOf" srcId="{EABEE8D3-035E-40BC-B3C4-372B8AE0895F}" destId="{894784E0-4BA3-45E5-B337-DF1DDE66C036}" srcOrd="0" destOrd="0" presId="urn:microsoft.com/office/officeart/2005/8/layout/pyramid3"/>
    <dgm:cxn modelId="{E440EB73-F50C-4114-8222-DED16F9A6690}" type="presOf" srcId="{4E8D25A3-1499-4621-B1C3-65A498262DCD}" destId="{E6F57482-351C-4EDD-8110-17B8D596CDC5}" srcOrd="0" destOrd="0" presId="urn:microsoft.com/office/officeart/2005/8/layout/pyramid3"/>
    <dgm:cxn modelId="{98B03586-BF5B-4110-8027-1DEE936E008C}" srcId="{4E8D25A3-1499-4621-B1C3-65A498262DCD}" destId="{EABEE8D3-035E-40BC-B3C4-372B8AE0895F}" srcOrd="2" destOrd="0" parTransId="{2DA3F8E3-AB2B-44D4-B2BA-C47FE261EA90}" sibTransId="{82F9A13A-9F23-4A1C-8A28-B0C80B0D663F}"/>
    <dgm:cxn modelId="{263EE8C6-AEFC-409A-90AC-FA2610E68E74}" type="presOf" srcId="{CF5BF94A-5B6C-4F5E-AC31-24113440BE9D}" destId="{7DCD93EB-1124-4B7B-8F10-103E40E83108}" srcOrd="1" destOrd="0" presId="urn:microsoft.com/office/officeart/2005/8/layout/pyramid3"/>
    <dgm:cxn modelId="{76CA0BF7-982F-4CB4-9B54-3433DE20D4A1}" type="presOf" srcId="{EABEE8D3-035E-40BC-B3C4-372B8AE0895F}" destId="{723B9879-0B20-4468-A4B9-5F230723A11B}" srcOrd="1" destOrd="0" presId="urn:microsoft.com/office/officeart/2005/8/layout/pyramid3"/>
    <dgm:cxn modelId="{AE30B8C5-B07D-4BCF-A784-CB530630BA3D}" type="presParOf" srcId="{E6F57482-351C-4EDD-8110-17B8D596CDC5}" destId="{9C1872C9-0FBB-4307-8609-A63CF12083B8}" srcOrd="0" destOrd="0" presId="urn:microsoft.com/office/officeart/2005/8/layout/pyramid3"/>
    <dgm:cxn modelId="{014F7BBD-6C29-4322-86AC-A2775E21C30A}" type="presParOf" srcId="{9C1872C9-0FBB-4307-8609-A63CF12083B8}" destId="{580C46C7-DCB6-4E33-B295-6F79B2FEB8E4}" srcOrd="0" destOrd="0" presId="urn:microsoft.com/office/officeart/2005/8/layout/pyramid3"/>
    <dgm:cxn modelId="{AF94CF0B-0244-4D00-8391-5F52524199B9}" type="presParOf" srcId="{9C1872C9-0FBB-4307-8609-A63CF12083B8}" destId="{7DCD93EB-1124-4B7B-8F10-103E40E83108}" srcOrd="1" destOrd="0" presId="urn:microsoft.com/office/officeart/2005/8/layout/pyramid3"/>
    <dgm:cxn modelId="{36021798-7077-465B-B4C0-4A3C99DB4E1B}" type="presParOf" srcId="{E6F57482-351C-4EDD-8110-17B8D596CDC5}" destId="{522AB580-3949-4777-8821-F550589586A1}" srcOrd="1" destOrd="0" presId="urn:microsoft.com/office/officeart/2005/8/layout/pyramid3"/>
    <dgm:cxn modelId="{64198507-5D4A-4B8A-8C68-2F54FDD156B3}" type="presParOf" srcId="{522AB580-3949-4777-8821-F550589586A1}" destId="{25364859-0D0D-4E85-A0FF-728E432897EA}" srcOrd="0" destOrd="0" presId="urn:microsoft.com/office/officeart/2005/8/layout/pyramid3"/>
    <dgm:cxn modelId="{EF21DD52-1DC4-44ED-93A5-8461197E0EE3}" type="presParOf" srcId="{522AB580-3949-4777-8821-F550589586A1}" destId="{9885F7BA-AB2D-406A-8DB8-2B5A03D0CE43}" srcOrd="1" destOrd="0" presId="urn:microsoft.com/office/officeart/2005/8/layout/pyramid3"/>
    <dgm:cxn modelId="{C16A44EB-F87F-4018-AD82-A5714AD16F84}" type="presParOf" srcId="{E6F57482-351C-4EDD-8110-17B8D596CDC5}" destId="{59DE9AB7-9B74-43C5-ACA5-D7D13296B74F}" srcOrd="2" destOrd="0" presId="urn:microsoft.com/office/officeart/2005/8/layout/pyramid3"/>
    <dgm:cxn modelId="{883049E7-2C6F-4CB1-B3A8-C781FDC359C5}" type="presParOf" srcId="{59DE9AB7-9B74-43C5-ACA5-D7D13296B74F}" destId="{894784E0-4BA3-45E5-B337-DF1DDE66C036}" srcOrd="0" destOrd="0" presId="urn:microsoft.com/office/officeart/2005/8/layout/pyramid3"/>
    <dgm:cxn modelId="{F7766D01-62DD-46DC-BE10-FA21B9F3178B}" type="presParOf" srcId="{59DE9AB7-9B74-43C5-ACA5-D7D13296B74F}" destId="{723B9879-0B20-4468-A4B9-5F230723A11B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0C46C7-DCB6-4E33-B295-6F79B2FEB8E4}">
      <dsp:nvSpPr>
        <dsp:cNvPr id="0" name=""/>
        <dsp:cNvSpPr/>
      </dsp:nvSpPr>
      <dsp:spPr>
        <a:xfrm rot="10800000">
          <a:off x="0" y="81447"/>
          <a:ext cx="7778495" cy="1860389"/>
        </a:xfrm>
        <a:prstGeom prst="trapezoid">
          <a:avLst>
            <a:gd name="adj" fmla="val 71824"/>
          </a:avLst>
        </a:prstGeom>
        <a:solidFill>
          <a:schemeClr val="bg2">
            <a:lumMod val="75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500" kern="1200" dirty="0"/>
            <a:t>1700</a:t>
          </a:r>
          <a:endParaRPr lang="en-US" sz="6500" kern="1200" dirty="0"/>
        </a:p>
      </dsp:txBody>
      <dsp:txXfrm rot="-10800000">
        <a:off x="1361236" y="81447"/>
        <a:ext cx="5056021" cy="1860389"/>
      </dsp:txXfrm>
    </dsp:sp>
    <dsp:sp modelId="{25364859-0D0D-4E85-A0FF-728E432897EA}">
      <dsp:nvSpPr>
        <dsp:cNvPr id="0" name=""/>
        <dsp:cNvSpPr/>
      </dsp:nvSpPr>
      <dsp:spPr>
        <a:xfrm rot="10800000">
          <a:off x="1336208" y="1860389"/>
          <a:ext cx="5106078" cy="1694182"/>
        </a:xfrm>
        <a:prstGeom prst="trapezoid">
          <a:avLst>
            <a:gd name="adj" fmla="val 71824"/>
          </a:avLst>
        </a:prstGeom>
        <a:solidFill>
          <a:srgbClr val="FFDB69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6500" kern="1200" dirty="0"/>
            <a:t>300</a:t>
          </a:r>
          <a:endParaRPr lang="en-US" sz="6500" kern="1200" dirty="0"/>
        </a:p>
      </dsp:txBody>
      <dsp:txXfrm rot="-10800000">
        <a:off x="2229771" y="1860389"/>
        <a:ext cx="3318951" cy="1694182"/>
      </dsp:txXfrm>
    </dsp:sp>
    <dsp:sp modelId="{894784E0-4BA3-45E5-B337-DF1DDE66C036}">
      <dsp:nvSpPr>
        <dsp:cNvPr id="0" name=""/>
        <dsp:cNvSpPr/>
      </dsp:nvSpPr>
      <dsp:spPr>
        <a:xfrm rot="10800000">
          <a:off x="2553039" y="3554572"/>
          <a:ext cx="2672416" cy="1860389"/>
        </a:xfrm>
        <a:prstGeom prst="trapezoid">
          <a:avLst>
            <a:gd name="adj" fmla="val 71824"/>
          </a:avLst>
        </a:prstGeom>
        <a:solidFill>
          <a:srgbClr val="6DD9F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1" kern="1200" dirty="0"/>
            <a:t>100</a:t>
          </a:r>
          <a:endParaRPr lang="en-US" sz="3200" b="1" kern="1200" dirty="0"/>
        </a:p>
      </dsp:txBody>
      <dsp:txXfrm rot="-10800000">
        <a:off x="2553039" y="3554572"/>
        <a:ext cx="2672416" cy="18603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40C9A3-10B9-44BA-83C8-2A43ACFC1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5CF5A69-E887-4A0D-A796-BAF11C336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297C9E-8FD9-4280-BA12-FE09C959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D2ED-BB2F-492A-996E-218DA7CF1B29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10B1ACE-B322-4148-B47D-730F545CD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DB843BE-D0FB-42B9-9B1A-0094C548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040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E341F16-4A8C-4B54-BB88-038D1C72B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46F0CDE-3B9C-49AC-8A3A-A0204B999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0E13F7F-DC49-4319-9AA2-95F42E00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4938-AA8F-4535-987E-81C8FB6E6576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BC1F1A1-023C-471F-BF13-49B80BEF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043B8D9-FDF8-463A-8F4D-517677CD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1171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EA11FD-35B7-4732-82BC-FAAD8BF5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C62F1C1-720A-4F93-B4E3-CFFE42237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95D4869-7DA1-4610-9A15-3FA941E0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2A4D0-26FD-444A-8FBA-6FF8146868D7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62E928F-E144-46E2-8E80-C2B59DB4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D34D766-3B94-478A-B201-F79AE89F2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990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0E832F-0B84-4603-A535-D8746A066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9821BEC-8E2E-4EF1-90C2-424583AEE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30330DF-EEA6-4227-A4E3-40940022D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6047E76-6877-4E27-A955-CF2D7EEA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8CEB2-DFE9-4330-B149-5B0341199C9F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7F029B3-7DEA-4483-949A-9A75816C0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9B19513-89FC-43D8-96D7-D82A4A1F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9324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D002218-B5F3-493E-909E-ECA4CFB35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CB1C5AC-0866-48C9-ACA1-9DD73A3A4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7C1DD7C-00F3-47D3-9659-17BDFB596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F03DA55B-0F86-48EA-925F-7B31C4E0F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939DD6C-3617-498D-BC65-1D30BA837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85E0E3C-D4CE-4346-823E-C16E8C67E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0A2C8-C11E-4769-92DF-579B4C505E83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FC1C2D0D-E1A5-4EA0-BB4C-3CF411AFA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E40CFD1-1E63-4BE2-AF2B-09887551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709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813AD8-BC5B-4BBD-BDAA-9F634A739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0EE59F2-21DF-450D-AF5C-2D72B5CD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CB2F6-40A2-4AD4-BDF4-E29EC9805AA0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418BF09-5C61-4F3B-B0F0-0871A024C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44FC21B-4576-49B1-A0C3-624A4D27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84782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95CC4FA-E746-4DF6-B46C-F7C64E23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CE31-3100-4BB2-AF06-7317A6D0B967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6C299FB-D196-4DC3-B545-27D922A59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F35FA90-BDC5-43FA-B30A-9F222CF6B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6501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7449834-0780-445C-8017-DDB8C2FA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85E0502-F31F-4F05-ADFF-EE2A2EFA6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E609E63-6093-45C7-A8CD-AAE2828F8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9DA6FDC-4465-49BB-930B-D116E1DD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20062-2436-4D88-886B-F2081B222AE4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610689E-90FB-49BF-ACF1-FEFAEDF96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7250874-D011-41AC-90F7-6DEF1B9E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97314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BB7FC43-3333-4FD9-8492-53EA8674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643C53F-09D4-4212-BAB8-B4AC4E514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CA6F5C0-273F-460A-A944-3BA1256B3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2CF7E6C-9102-4771-B966-AA2D282A3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19455-F644-45BD-B6E6-86E705F15B45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E1189F7-6EE5-47C3-8D36-77DAD0244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3AC982B-7EF2-4923-A1D3-AF51533F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7482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6219B0-D5A7-4CB4-8306-4D86D5797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AC8F8D5-59A9-4F0F-885D-36BAED725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D587579-7EE7-4683-A6FE-08C34D10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25D1-193C-449C-A6C9-DF42CDD6DABF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50FEBF2-3171-4ACC-8B35-76BDAF02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52FCF0C-0CF3-4244-A215-6B42D615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0762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2D4FAC1-9931-408A-B4BA-26992CD86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F7FAFDF-A139-4DE6-AA71-BA1E819E9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A26A7C6-F077-48E8-991C-6485A6466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DA9CA-6A0F-461A-9CB2-7D86EF3B458A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8969F8B-A57D-41C6-AB91-CF9A98546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5CC3949-A8B9-4743-A2EB-349D83D5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71825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 מוריוסף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4EEFC-0A7B-4440-9F68-BE8B81A02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5913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 מוריוסף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4EEFC-0A7B-4440-9F68-BE8B81A02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8280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 מוריוסף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4EEFC-0A7B-4440-9F68-BE8B81A02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275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 מוריוסף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4EEFC-0A7B-4440-9F68-BE8B81A02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3070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 מוריוסף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4EEFC-0A7B-4440-9F68-BE8B81A02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7404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 מוריוסף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4EEFC-0A7B-4440-9F68-BE8B81A02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00690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 מוריוסף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4EEFC-0A7B-4440-9F68-BE8B81A02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4972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 מוריוסף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4EEFC-0A7B-4440-9F68-BE8B81A02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0275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 מוריוסף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4EEFC-0A7B-4440-9F68-BE8B81A02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19551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 מוריוסף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4EEFC-0A7B-4440-9F68-BE8B81A02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9234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ד"ר איריס גרטנר מוריוסף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4EEFC-0A7B-4440-9F68-BE8B81A02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75334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265A86-89DB-480C-33BB-3D91A46F3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5C0DFFE-D780-E110-51B7-BEC96A2F1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2AE1CEC-0146-71A5-614C-FBF4C266D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ACD-EF4B-4918-9849-6EEC9FBF6016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C3F2902-6AF9-6108-2404-B06F33BF8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0052E95-077B-82F7-EB31-83D1E54C7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CF54-8335-4BDE-BB69-C7E90FAC7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89501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302B4D-4663-C509-A961-7A7361655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8DA07AF-71E7-2339-6E6B-C4E84F6D7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869885-3823-0608-D2E4-A20BC76E9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ACD-EF4B-4918-9849-6EEC9FBF6016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A62E2B3-A105-2CF4-0641-CA81C36D8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2DB55F6-BF7F-8C2D-DE6A-D4904FD1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CF54-8335-4BDE-BB69-C7E90FAC7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83957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19141CD-204D-CCC1-C180-ECE91895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69EDD23-9DE3-DA71-A7BA-DE39F2DE5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2C2CD80-9D4F-599B-2818-4B3FD35AB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ACD-EF4B-4918-9849-6EEC9FBF6016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431C955-5E8C-8EB2-F60B-8C406816E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91F1E47-2879-2C20-162D-589F8D07C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CF54-8335-4BDE-BB69-C7E90FAC7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6564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D34DE8-289B-14A6-BBC2-8689B6FC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1BE277F-55FE-1F79-0CC4-E8ED5ED33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20592F8-45BB-B518-0B08-F9428B1DB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7E727D1-863C-2E55-D506-2492C4542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ACD-EF4B-4918-9849-6EEC9FBF6016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7FAD707-BE71-D834-33D2-568055EF7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66192FF-108E-15A9-DC0B-A94C336F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CF54-8335-4BDE-BB69-C7E90FAC7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59559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1504A2B-CE30-6E8B-5029-A07D89795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491A3A7-8208-8B66-6A5D-165E92D57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382B82E-9265-4C78-0FE0-EE000C7F7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F2B4C54-FAE3-DB78-F7DE-CDE170157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28B190D8-CD6C-ACF6-083A-D941E7CBE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89D65B83-3793-1CD4-2E88-E2518A36F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ACD-EF4B-4918-9849-6EEC9FBF6016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25B3A61-7AE8-45F4-72FD-87BD3991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9311BD9-3CD6-DA5C-1DD7-6E97C7DA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CF54-8335-4BDE-BB69-C7E90FAC7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17802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EAFB9B-54F9-B156-DAC8-EDA58B65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17D0C8B-E616-D4D8-2D4F-556B1531C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ACD-EF4B-4918-9849-6EEC9FBF6016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CFE26E8-908E-6028-6839-46A63424A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C373CA0-9734-9C66-8294-AA9F56350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CF54-8335-4BDE-BB69-C7E90FAC7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39104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553C2CA-1915-71F0-16F4-0F7DD2617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ACD-EF4B-4918-9849-6EEC9FBF6016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17F5D4B-88A2-8AB3-381D-915608A9E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20B2FDB-E414-D217-D58E-E22E0ABC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CF54-8335-4BDE-BB69-C7E90FAC7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9029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682866E-92FF-4F0B-07F8-E31A86D4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B646D9B-2083-9244-5F2B-C70FAB72E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26ED417-0D87-8645-466A-AFE65DD5B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22EE6EE-EB56-F73C-3E43-03AABDB8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ACD-EF4B-4918-9849-6EEC9FBF6016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EE11437-8A8B-8FD3-EE49-9832F2E82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E28DE08-D52D-71C9-E84E-4354DC19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CF54-8335-4BDE-BB69-C7E90FAC7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68856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F42B93-66BB-C58E-72C7-3DB46E67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DF7F57A-C79C-B787-0548-C1424A990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9E87D00-4D79-0679-6118-020F0AFAC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C7A15DD-1055-22BF-7FC2-AE76E4440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ACD-EF4B-4918-9849-6EEC9FBF6016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501459E-41F1-4B4F-2762-6CEBAD8F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58CC514-906C-DBAC-C46B-A94457D7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CF54-8335-4BDE-BB69-C7E90FAC7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804979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4EBF0FD-678D-8336-DC99-058FD1FA1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AA02FFC-E6B4-7FF5-17FE-F70D3C7B5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2A9258-48EC-A11E-6F58-B3D0244B3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ACD-EF4B-4918-9849-6EEC9FBF6016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118C841-ECE2-C2FB-3EB3-B73343929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FFEF618-7F48-0C97-F41D-EF259C6C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CF54-8335-4BDE-BB69-C7E90FAC7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77357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16FCA0E-616A-CF84-9A2D-3F109EE2D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89006D4-9B3C-746D-A24A-FEC97E98F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C4EC0A8-9E48-8119-8947-ADCE24494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7ACD-EF4B-4918-9849-6EEC9FBF6016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0E4301B-E3F4-B11D-B91F-0788DA62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6EE74CA-4BC8-C510-29CD-8E0B1E20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3CF54-8335-4BDE-BB69-C7E90FAC7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24624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40C9A3-10B9-44BA-83C8-2A43ACFC1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5CF5A69-E887-4A0D-A796-BAF11C336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297C9E-8FD9-4280-BA12-FE09C959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16CC1E91-ADC4-416B-96B6-8B27FFF1E5A4}" type="datetime8">
              <a:rPr lang="he-IL" smtClean="0"/>
              <a:t>23 ינואר 24</a:t>
            </a:fld>
            <a:endParaRPr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10B1ACE-B322-4148-B47D-730F545CD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r>
              <a:rPr kumimoji="0" lang="he-IL" sz="1300">
                <a:solidFill>
                  <a:schemeClr val="bg2">
                    <a:tint val="60000"/>
                    <a:satMod val="155000"/>
                  </a:schemeClr>
                </a:solidFill>
              </a:rPr>
              <a:t>ד"ר איריס גרטנר מוריוסף </a:t>
            </a:r>
            <a:endParaRPr kumimoji="0"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DB843BE-D0FB-42B9-9B1A-0094C548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162773"/>
      </p:ext>
    </p:extLst>
  </p:cSld>
  <p:clrMapOvr>
    <a:masterClrMapping/>
  </p:clrMapOvr>
  <p:hf sldNum="0"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E341F16-4A8C-4B54-BB88-038D1C72B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46F0CDE-3B9C-49AC-8A3A-A0204B999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0E13F7F-DC49-4319-9AA2-95F42E00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16CC1E91-ADC4-416B-96B6-8B27FFF1E5A4}" type="datetime8">
              <a:rPr lang="he-IL" smtClean="0"/>
              <a:t>23 ינואר 24</a:t>
            </a:fld>
            <a:endParaRPr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BC1F1A1-023C-471F-BF13-49B80BEF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r>
              <a:rPr kumimoji="0" lang="he-IL" sz="1300">
                <a:solidFill>
                  <a:schemeClr val="bg2">
                    <a:tint val="60000"/>
                    <a:satMod val="155000"/>
                  </a:schemeClr>
                </a:solidFill>
              </a:rPr>
              <a:t>ד"ר איריס גרטנר מוריוסף </a:t>
            </a:r>
            <a:endParaRPr kumimoji="0"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043B8D9-FDF8-463A-8F4D-517677CD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197807"/>
      </p:ext>
    </p:extLst>
  </p:cSld>
  <p:clrMapOvr>
    <a:masterClrMapping/>
  </p:clrMapOvr>
  <p:hf sldNum="0"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EA11FD-35B7-4732-82BC-FAAD8BF5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C62F1C1-720A-4F93-B4E3-CFFE42237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95D4869-7DA1-4610-9A15-3FA941E0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16CC1E91-ADC4-416B-96B6-8B27FFF1E5A4}" type="datetime8">
              <a:rPr lang="he-IL" smtClean="0"/>
              <a:t>23 ינואר 24</a:t>
            </a:fld>
            <a:endParaRPr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62E928F-E144-46E2-8E80-C2B59DB4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r>
              <a:rPr kumimoji="0" lang="he-IL" sz="1300">
                <a:solidFill>
                  <a:schemeClr val="bg2">
                    <a:tint val="60000"/>
                    <a:satMod val="155000"/>
                  </a:schemeClr>
                </a:solidFill>
              </a:rPr>
              <a:t>ד"ר איריס גרטנר מוריוסף </a:t>
            </a:r>
            <a:endParaRPr kumimoji="0"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D34D766-3B94-478A-B201-F79AE89F2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242177"/>
      </p:ext>
    </p:extLst>
  </p:cSld>
  <p:clrMapOvr>
    <a:masterClrMapping/>
  </p:clrMapOvr>
  <p:hf sldNum="0"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0E832F-0B84-4603-A535-D8746A066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9821BEC-8E2E-4EF1-90C2-424583AEE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30330DF-EEA6-4227-A4E3-40940022D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6047E76-6877-4E27-A955-CF2D7EEA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16CC1E91-ADC4-416B-96B6-8B27FFF1E5A4}" type="datetime8">
              <a:rPr lang="he-IL" smtClean="0"/>
              <a:t>23 ינואר 24</a:t>
            </a:fld>
            <a:endParaRPr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7F029B3-7DEA-4483-949A-9A75816C0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r>
              <a:rPr kumimoji="0" lang="he-IL" sz="1300">
                <a:solidFill>
                  <a:schemeClr val="bg2">
                    <a:tint val="60000"/>
                    <a:satMod val="155000"/>
                  </a:schemeClr>
                </a:solidFill>
              </a:rPr>
              <a:t>ד"ר איריס גרטנר מוריוסף </a:t>
            </a:r>
            <a:endParaRPr kumimoji="0"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9B19513-89FC-43D8-96D7-D82A4A1F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162427"/>
      </p:ext>
    </p:extLst>
  </p:cSld>
  <p:clrMapOvr>
    <a:masterClrMapping/>
  </p:clrMapOvr>
  <p:hf sldNum="0"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D002218-B5F3-493E-909E-ECA4CFB35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CB1C5AC-0866-48C9-ACA1-9DD73A3A4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7C1DD7C-00F3-47D3-9659-17BDFB596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F03DA55B-0F86-48EA-925F-7B31C4E0F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939DD6C-3617-498D-BC65-1D30BA837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85E0E3C-D4CE-4346-823E-C16E8C67E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16CC1E91-ADC4-416B-96B6-8B27FFF1E5A4}" type="datetime8">
              <a:rPr lang="he-IL" smtClean="0"/>
              <a:t>23 ינואר 24</a:t>
            </a:fld>
            <a:endParaRPr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FC1C2D0D-E1A5-4EA0-BB4C-3CF411AFA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r>
              <a:rPr kumimoji="0" lang="he-IL" sz="1300">
                <a:solidFill>
                  <a:schemeClr val="bg2">
                    <a:tint val="60000"/>
                    <a:satMod val="155000"/>
                  </a:schemeClr>
                </a:solidFill>
              </a:rPr>
              <a:t>ד"ר איריס גרטנר מוריוסף </a:t>
            </a:r>
            <a:endParaRPr kumimoji="0"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E40CFD1-1E63-4BE2-AF2B-09887551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241946"/>
      </p:ext>
    </p:extLst>
  </p:cSld>
  <p:clrMapOvr>
    <a:masterClrMapping/>
  </p:clrMapOvr>
  <p:hf sldNum="0"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813AD8-BC5B-4BBD-BDAA-9F634A739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0EE59F2-21DF-450D-AF5C-2D72B5CD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16CC1E91-ADC4-416B-96B6-8B27FFF1E5A4}" type="datetime8">
              <a:rPr lang="he-IL" smtClean="0"/>
              <a:t>23 ינואר 24</a:t>
            </a:fld>
            <a:endParaRPr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418BF09-5C61-4F3B-B0F0-0871A024C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r>
              <a:rPr kumimoji="0" lang="he-IL" sz="1300">
                <a:solidFill>
                  <a:schemeClr val="bg2">
                    <a:tint val="60000"/>
                    <a:satMod val="155000"/>
                  </a:schemeClr>
                </a:solidFill>
              </a:rPr>
              <a:t>ד"ר איריס גרטנר מוריוסף </a:t>
            </a:r>
            <a:endParaRPr kumimoji="0"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44FC21B-4576-49B1-A0C3-624A4D27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090078"/>
      </p:ext>
    </p:extLst>
  </p:cSld>
  <p:clrMapOvr>
    <a:masterClrMapping/>
  </p:clrMapOvr>
  <p:hf sldNum="0"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95CC4FA-E746-4DF6-B46C-F7C64E23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16CC1E91-ADC4-416B-96B6-8B27FFF1E5A4}" type="datetime8">
              <a:rPr lang="he-IL" smtClean="0"/>
              <a:t>23 ינואר 24</a:t>
            </a:fld>
            <a:endParaRPr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6C299FB-D196-4DC3-B545-27D922A59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r>
              <a:rPr kumimoji="0" lang="he-IL" sz="1300">
                <a:solidFill>
                  <a:schemeClr val="bg2">
                    <a:tint val="60000"/>
                    <a:satMod val="155000"/>
                  </a:schemeClr>
                </a:solidFill>
              </a:rPr>
              <a:t>ד"ר איריס גרטנר מוריוסף </a:t>
            </a:r>
            <a:endParaRPr kumimoji="0"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F35FA90-BDC5-43FA-B30A-9F222CF6B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796990"/>
      </p:ext>
    </p:extLst>
  </p:cSld>
  <p:clrMapOvr>
    <a:masterClrMapping/>
  </p:clrMapOvr>
  <p:hf sldNum="0"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7449834-0780-445C-8017-DDB8C2FA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85E0502-F31F-4F05-ADFF-EE2A2EFA6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E609E63-6093-45C7-A8CD-AAE2828F8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9DA6FDC-4465-49BB-930B-D116E1DD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16CC1E91-ADC4-416B-96B6-8B27FFF1E5A4}" type="datetime8">
              <a:rPr lang="he-IL" smtClean="0"/>
              <a:t>23 ינואר 24</a:t>
            </a:fld>
            <a:endParaRPr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610689E-90FB-49BF-ACF1-FEFAEDF96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r>
              <a:rPr kumimoji="0" lang="he-IL" sz="1300">
                <a:solidFill>
                  <a:schemeClr val="bg2">
                    <a:tint val="60000"/>
                    <a:satMod val="155000"/>
                  </a:schemeClr>
                </a:solidFill>
              </a:rPr>
              <a:t>ד"ר איריס גרטנר מוריוסף </a:t>
            </a:r>
            <a:endParaRPr kumimoji="0"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7250874-D011-41AC-90F7-6DEF1B9E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479306"/>
      </p:ext>
    </p:extLst>
  </p:cSld>
  <p:clrMapOvr>
    <a:masterClrMapping/>
  </p:clrMapOvr>
  <p:hf sldNum="0"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BB7FC43-3333-4FD9-8492-53EA8674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643C53F-09D4-4212-BAB8-B4AC4E514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CA6F5C0-273F-460A-A944-3BA1256B3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2CF7E6C-9102-4771-B966-AA2D282A3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16CC1E91-ADC4-416B-96B6-8B27FFF1E5A4}" type="datetime8">
              <a:rPr lang="he-IL" smtClean="0"/>
              <a:t>23 ינואר 24</a:t>
            </a:fld>
            <a:endParaRPr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E1189F7-6EE5-47C3-8D36-77DAD0244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r>
              <a:rPr kumimoji="0" lang="he-IL" sz="1300">
                <a:solidFill>
                  <a:schemeClr val="bg2">
                    <a:tint val="60000"/>
                    <a:satMod val="155000"/>
                  </a:schemeClr>
                </a:solidFill>
              </a:rPr>
              <a:t>ד"ר איריס גרטנר מוריוסף </a:t>
            </a:r>
            <a:endParaRPr kumimoji="0"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3AC982B-7EF2-4923-A1D3-AF51533F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035003"/>
      </p:ext>
    </p:extLst>
  </p:cSld>
  <p:clrMapOvr>
    <a:masterClrMapping/>
  </p:clrMapOvr>
  <p:hf sldNum="0"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6219B0-D5A7-4CB4-8306-4D86D5797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AC8F8D5-59A9-4F0F-885D-36BAED725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D587579-7EE7-4683-A6FE-08C34D10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16CC1E91-ADC4-416B-96B6-8B27FFF1E5A4}" type="datetime8">
              <a:rPr lang="he-IL" smtClean="0"/>
              <a:t>23 ינואר 24</a:t>
            </a:fld>
            <a:endParaRPr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50FEBF2-3171-4ACC-8B35-76BDAF02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r>
              <a:rPr kumimoji="0" lang="he-IL" sz="1300">
                <a:solidFill>
                  <a:schemeClr val="bg2">
                    <a:tint val="60000"/>
                    <a:satMod val="155000"/>
                  </a:schemeClr>
                </a:solidFill>
              </a:rPr>
              <a:t>ד"ר איריס גרטנר מוריוסף </a:t>
            </a:r>
            <a:endParaRPr kumimoji="0"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52FCF0C-0CF3-4244-A215-6B42D615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426647"/>
      </p:ext>
    </p:extLst>
  </p:cSld>
  <p:clrMapOvr>
    <a:masterClrMapping/>
  </p:clrMapOvr>
  <p:hf sldNum="0"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2D4FAC1-9931-408A-B4BA-26992CD86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F7FAFDF-A139-4DE6-AA71-BA1E819E9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A26A7C6-F077-48E8-991C-6485A6466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eaLnBrk="1" latinLnBrk="0" hangingPunct="1"/>
            <a:fld id="{16CC1E91-ADC4-416B-96B6-8B27FFF1E5A4}" type="datetime8">
              <a:rPr lang="he-IL" smtClean="0"/>
              <a:t>23 ינואר 24</a:t>
            </a:fld>
            <a:endParaRPr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8969F8B-A57D-41C6-AB91-CF9A98546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r>
              <a:rPr kumimoji="0" lang="he-IL" sz="1300">
                <a:solidFill>
                  <a:schemeClr val="bg2">
                    <a:tint val="60000"/>
                    <a:satMod val="155000"/>
                  </a:schemeClr>
                </a:solidFill>
              </a:rPr>
              <a:t>ד"ר איריס גרטנר מוריוסף </a:t>
            </a:r>
            <a:endParaRPr kumimoji="0" lang="en-US" sz="1300" dirty="0">
              <a:solidFill>
                <a:schemeClr val="bg2">
                  <a:tint val="60000"/>
                  <a:satMod val="155000"/>
                </a:schemeClr>
              </a:solidFill>
            </a:endParaRP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5CC3949-A8B9-4743-A2EB-349D83D5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122057"/>
      </p:ext>
    </p:extLst>
  </p:cSld>
  <p:clrMapOvr>
    <a:masterClrMapping/>
  </p:clrMapOvr>
  <p:hf sldNum="0"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7"/>
            <a:ext cx="3556000" cy="365125"/>
          </a:xfrm>
          <a:prstGeom prst="rect">
            <a:avLst/>
          </a:prstGeom>
        </p:spPr>
        <p:txBody>
          <a:bodyPr/>
          <a:lstStyle/>
          <a:p>
            <a:fld id="{A84FE9B5-50B8-4781-8DDA-E999ABD7F1EC}" type="datetime8">
              <a:rPr lang="he-IL" smtClean="0"/>
              <a:t>23 ינואר 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8" y="1755675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689104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fld id="{1C769803-8616-4EB4-8261-BF457ED4C58A}" type="datetime8">
              <a:rPr lang="he-IL" smtClean="0"/>
              <a:t>23 ינואר 24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1955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7"/>
            <a:ext cx="3556000" cy="365125"/>
          </a:xfrm>
          <a:prstGeom prst="rect">
            <a:avLst/>
          </a:prstGeom>
        </p:spPr>
        <p:txBody>
          <a:bodyPr/>
          <a:lstStyle/>
          <a:p>
            <a:fld id="{A4EB45E4-530D-42D6-AF30-ADF3BEC0F215}" type="datetime8">
              <a:rPr lang="he-IL" smtClean="0">
                <a:solidFill>
                  <a:prstClr val="black"/>
                </a:solidFill>
              </a:rPr>
              <a:t>23 ינואר 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8" y="1755675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0849579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fld id="{C8AE12D1-C60F-48BB-ACB8-C65A96C83D8F}" type="datetime8">
              <a:rPr lang="he-IL" smtClean="0">
                <a:solidFill>
                  <a:prstClr val="black"/>
                </a:solidFill>
              </a:rPr>
              <a:t>23 ינואר 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6910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7"/>
            <a:ext cx="3556000" cy="365125"/>
          </a:xfrm>
          <a:prstGeom prst="rect">
            <a:avLst/>
          </a:prstGeom>
        </p:spPr>
        <p:txBody>
          <a:bodyPr/>
          <a:lstStyle/>
          <a:p>
            <a:fld id="{C0E421B2-F3E7-47DE-980B-32A408EC2DC5}" type="datetime8">
              <a:rPr lang="he-IL" smtClean="0">
                <a:solidFill>
                  <a:prstClr val="black"/>
                </a:solidFill>
              </a:rPr>
              <a:t>23 ינואר 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8" y="1755675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257474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fld id="{406F2775-22FE-4148-934D-49151A435715}" type="datetime8">
              <a:rPr lang="he-IL" smtClean="0">
                <a:solidFill>
                  <a:prstClr val="black"/>
                </a:solidFill>
              </a:rPr>
              <a:t>23 ינואר 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5291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fld id="{06B1027D-0C1C-4AC7-888C-56146A48D262}" type="datetime8">
              <a:rPr lang="he-IL" smtClean="0">
                <a:solidFill>
                  <a:prstClr val="black"/>
                </a:solidFill>
              </a:rPr>
              <a:t>23 ינואר 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4577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7"/>
            <a:ext cx="3556000" cy="365125"/>
          </a:xfrm>
          <a:prstGeom prst="rect">
            <a:avLst/>
          </a:prstGeom>
        </p:spPr>
        <p:txBody>
          <a:bodyPr/>
          <a:lstStyle/>
          <a:p>
            <a:fld id="{9A26D28C-ECB9-4317-A792-92BB79E13A16}" type="datetime8">
              <a:rPr lang="he-IL" smtClean="0">
                <a:solidFill>
                  <a:prstClr val="black"/>
                </a:solidFill>
              </a:rPr>
              <a:t>23 ינואר 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8" y="1755675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3939775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fld id="{6889C207-7345-4C01-9D2D-99F5DDF504F2}" type="datetime8">
              <a:rPr lang="he-IL" smtClean="0">
                <a:solidFill>
                  <a:prstClr val="black"/>
                </a:solidFill>
              </a:rPr>
              <a:t>23 ינואר 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4554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fld id="{786DB856-202A-489D-BBC6-5453FF30E4F9}" type="datetime8">
              <a:rPr lang="he-IL" smtClean="0">
                <a:solidFill>
                  <a:prstClr val="black"/>
                </a:solidFill>
              </a:rPr>
              <a:t>23 ינואר 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6706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7"/>
            <a:ext cx="3556000" cy="365125"/>
          </a:xfrm>
          <a:prstGeom prst="rect">
            <a:avLst/>
          </a:prstGeom>
        </p:spPr>
        <p:txBody>
          <a:bodyPr/>
          <a:lstStyle/>
          <a:p>
            <a:fld id="{A84FE9B5-50B8-4781-8DDA-E999ABD7F1EC}" type="datetime8">
              <a:rPr lang="he-IL" smtClean="0"/>
              <a:t>23 ינואר 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8" y="1755675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1708524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fld id="{1C769803-8616-4EB4-8261-BF457ED4C58A}" type="datetime8">
              <a:rPr lang="he-IL" smtClean="0"/>
              <a:t>23 ינואר 24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60340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7"/>
            <a:ext cx="3556000" cy="365125"/>
          </a:xfrm>
          <a:prstGeom prst="rect">
            <a:avLst/>
          </a:prstGeom>
        </p:spPr>
        <p:txBody>
          <a:bodyPr/>
          <a:lstStyle/>
          <a:p>
            <a:fld id="{A4EB45E4-530D-42D6-AF30-ADF3BEC0F215}" type="datetime8">
              <a:rPr lang="he-IL" smtClean="0">
                <a:solidFill>
                  <a:prstClr val="black"/>
                </a:solidFill>
              </a:rPr>
              <a:t>23 ינואר 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8" y="1755675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91263474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fld id="{C8AE12D1-C60F-48BB-ACB8-C65A96C83D8F}" type="datetime8">
              <a:rPr lang="he-IL" smtClean="0">
                <a:solidFill>
                  <a:prstClr val="black"/>
                </a:solidFill>
              </a:rPr>
              <a:t>23 ינואר 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5646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fld id="{406F2775-22FE-4148-934D-49151A435715}" type="datetime8">
              <a:rPr lang="he-IL" smtClean="0">
                <a:solidFill>
                  <a:prstClr val="black"/>
                </a:solidFill>
              </a:rPr>
              <a:t>23 ינואר 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1531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fld id="{06B1027D-0C1C-4AC7-888C-56146A48D262}" type="datetime8">
              <a:rPr lang="he-IL" smtClean="0">
                <a:solidFill>
                  <a:prstClr val="black"/>
                </a:solidFill>
              </a:rPr>
              <a:t>23 ינואר 24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32183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7"/>
            <a:ext cx="3556000" cy="365125"/>
          </a:xfrm>
          <a:prstGeom prst="rect">
            <a:avLst/>
          </a:prstGeom>
        </p:spPr>
        <p:txBody>
          <a:bodyPr/>
          <a:lstStyle/>
          <a:p>
            <a:r>
              <a:rPr lang="he-IL"/>
              <a:t>ד"ר איריס גרטנר מוריוסף מכללה אקדמית הדסה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8" y="1755675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83130498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/>
              <a:t>ד"ר איריס גרטנר מוריוסף מכללה אקדמית הדסה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4849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7"/>
            <a:ext cx="35560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8" y="1755675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4366302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21372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06578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98562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33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9"/>
            <a:ext cx="3556000" cy="365125"/>
          </a:xfrm>
          <a:prstGeom prst="rect">
            <a:avLst/>
          </a:prstGeom>
        </p:spPr>
        <p:txBody>
          <a:bodyPr/>
          <a:lstStyle/>
          <a:p>
            <a:r>
              <a:rPr lang="he-IL"/>
              <a:t>ד"ר איריס גרטנר מוריוסף מכללה אקדמית הדסה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9" y="1755677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3823035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9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31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/>
              <a:t>ד"ר איריס גרטנר מוריוסף מכללה אקדמית הדסה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9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2494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33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9"/>
            <a:ext cx="35560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9" y="1755677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62826134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9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31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900" smtClean="0">
                <a:solidFill>
                  <a:srgbClr val="444D26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071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9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31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900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0388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9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31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900" smtClean="0">
                <a:solidFill>
                  <a:srgbClr val="444D2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87886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7"/>
            <a:ext cx="35560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ד"ר איריס גרטנר מוריוסף מכללה אקדמית הדסה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8" y="1755675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69464480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766F54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79220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44675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08170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93984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7"/>
            <a:ext cx="3556000" cy="365125"/>
          </a:xfrm>
          <a:prstGeom prst="rect">
            <a:avLst/>
          </a:prstGeom>
        </p:spPr>
        <p:txBody>
          <a:bodyPr/>
          <a:lstStyle/>
          <a:p>
            <a:r>
              <a:rPr lang="he-IL"/>
              <a:t>ד"ר איריס גרטנר מוריוסף מכללה אקדמית הדסה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8" y="1755675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7904055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/>
              <a:t>ד"ר איריס גרטנר מוריוסף מכללה אקדמית הדסה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1157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7"/>
            <a:ext cx="35560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8" y="1755675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97794779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60229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8693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11704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33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9"/>
            <a:ext cx="3556000" cy="365125"/>
          </a:xfrm>
          <a:prstGeom prst="rect">
            <a:avLst/>
          </a:prstGeom>
        </p:spPr>
        <p:txBody>
          <a:bodyPr/>
          <a:lstStyle/>
          <a:p>
            <a:r>
              <a:rPr lang="he-IL"/>
              <a:t>ד"ר איריס גרטנר מוריוסף מכללה אקדמית הדסה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9" y="1755677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20330897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9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31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/>
              <a:t>ד"ר איריס גרטנר מוריוסף מכללה אקדמית הדסה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9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9328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33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9"/>
            <a:ext cx="35560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9" y="1755677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31411145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9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31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900" smtClean="0">
                <a:solidFill>
                  <a:srgbClr val="444D26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46487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9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31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900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12769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9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31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900" smtClean="0">
                <a:solidFill>
                  <a:srgbClr val="444D2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3859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8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248427"/>
            <a:ext cx="35560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ד"ר איריס גרטנר מוריוסף מכללה אקדמית הדסה 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08000" y="1752600"/>
            <a:ext cx="8534400" cy="441960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pic>
        <p:nvPicPr>
          <p:cNvPr id="8" name="Picture 7" descr="sm_book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245618" y="1755675"/>
            <a:ext cx="2153743" cy="1688453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62676922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766F54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18834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53875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29487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27"/>
            <a:ext cx="2743200" cy="5516563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29"/>
            <a:ext cx="2946400" cy="365125"/>
          </a:xfrm>
          <a:prstGeom prst="rect">
            <a:avLst/>
          </a:prstGeom>
        </p:spPr>
        <p:txBody>
          <a:bodyPr/>
          <a:lstStyle/>
          <a:p>
            <a:r>
              <a:rPr lang="he-IL">
                <a:solidFill>
                  <a:prstClr val="black"/>
                </a:solidFill>
              </a:rPr>
              <a:t>ד"ר איריס גרטנר מוריוסף מכללה אקדמית הדסה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8128429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89389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89389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rgbClr val="444D26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286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9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54.xml"/><Relationship Id="rId34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75.xml"/><Relationship Id="rId47" Type="http://schemas.openxmlformats.org/officeDocument/2006/relationships/slideLayout" Target="../slideLayouts/slideLayout80.xml"/><Relationship Id="rId50" Type="http://schemas.openxmlformats.org/officeDocument/2006/relationships/slideLayout" Target="../slideLayouts/slideLayout83.xml"/><Relationship Id="rId55" Type="http://schemas.openxmlformats.org/officeDocument/2006/relationships/slideLayout" Target="../slideLayouts/slideLayout88.xml"/><Relationship Id="rId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37" Type="http://schemas.openxmlformats.org/officeDocument/2006/relationships/slideLayout" Target="../slideLayouts/slideLayout70.xml"/><Relationship Id="rId40" Type="http://schemas.openxmlformats.org/officeDocument/2006/relationships/slideLayout" Target="../slideLayouts/slideLayout73.xml"/><Relationship Id="rId45" Type="http://schemas.openxmlformats.org/officeDocument/2006/relationships/slideLayout" Target="../slideLayouts/slideLayout78.xml"/><Relationship Id="rId53" Type="http://schemas.openxmlformats.org/officeDocument/2006/relationships/slideLayout" Target="../slideLayouts/slideLayout86.xml"/><Relationship Id="rId58" Type="http://schemas.openxmlformats.org/officeDocument/2006/relationships/slideLayout" Target="../slideLayouts/slideLayout91.xml"/><Relationship Id="rId5" Type="http://schemas.openxmlformats.org/officeDocument/2006/relationships/slideLayout" Target="../slideLayouts/slideLayout38.xml"/><Relationship Id="rId61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76.xml"/><Relationship Id="rId48" Type="http://schemas.openxmlformats.org/officeDocument/2006/relationships/slideLayout" Target="../slideLayouts/slideLayout81.xml"/><Relationship Id="rId56" Type="http://schemas.openxmlformats.org/officeDocument/2006/relationships/slideLayout" Target="../slideLayouts/slideLayout89.xml"/><Relationship Id="rId8" Type="http://schemas.openxmlformats.org/officeDocument/2006/relationships/slideLayout" Target="../slideLayouts/slideLayout41.xml"/><Relationship Id="rId51" Type="http://schemas.openxmlformats.org/officeDocument/2006/relationships/slideLayout" Target="../slideLayouts/slideLayout84.xml"/><Relationship Id="rId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38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9.xml"/><Relationship Id="rId59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74.xml"/><Relationship Id="rId54" Type="http://schemas.openxmlformats.org/officeDocument/2006/relationships/slideLayout" Target="../slideLayouts/slideLayout87.xml"/><Relationship Id="rId62" Type="http://schemas.openxmlformats.org/officeDocument/2006/relationships/theme" Target="../theme/theme4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9.xml"/><Relationship Id="rId49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64.xml"/><Relationship Id="rId44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85.xml"/><Relationship Id="rId6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050E555-D246-4228-8051-0958C968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41A2429-2A62-4A51-9D04-FEA63C771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B96A8BB-7801-4A69-9DD4-4D65A6D11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CFB78-84C6-4B69-ACCE-685106B9DCE4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0CDB1C5-B08B-45B4-87D4-54EBD1A3B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D318BB9-F6F6-415B-A6D0-057687C24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007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ד"ר איריס גרטנר מוריוסף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4EEFC-0A7B-4440-9F68-BE8B81A029B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533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0FF88FA5-3AD2-52C5-3F6D-623341FF7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5294187-4BB6-1F57-E873-598057F2B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7011ECB-F869-0CF7-963C-D895D57A7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07ACD-EF4B-4918-9849-6EEC9FBF6016}" type="datetimeFigureOut">
              <a:rPr lang="he-IL" smtClean="0"/>
              <a:t>י"ג/שבט/תשפ"ד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B835F07-D236-537A-200E-D4EAB9A11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BCE9F4E-6BDF-E4EC-3E8D-A64DFE406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3CF54-8335-4BDE-BB69-C7E90FAC77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104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050E555-D246-4228-8051-0958C968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41A2429-2A62-4A51-9D04-FEA63C771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B96A8BB-7801-4A69-9DD4-4D65A6D11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CFB78-84C6-4B69-ACCE-685106B9DCE4}" type="datetime8">
              <a:rPr lang="en-IL" smtClean="0"/>
              <a:t>01/23/2024 19:41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0CDB1C5-B08B-45B4-87D4-54EBD1A3B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ד"ר איריס גרטנרמוריוסף המכללה האקדמית הדסה</a:t>
            </a:r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D318BB9-F6F6-415B-A6D0-057687C24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69D08-7184-423C-8912-4D3BF91E050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58448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765" r:id="rId57"/>
    <p:sldLayoutId id="2147483766" r:id="rId58"/>
    <p:sldLayoutId id="2147483767" r:id="rId59"/>
    <p:sldLayoutId id="2147483768" r:id="rId60"/>
    <p:sldLayoutId id="2147483769" r:id="rId61"/>
  </p:sldLayoutIdLst>
  <p:hf sldNum="0" hd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41.xml"/><Relationship Id="rId1" Type="http://schemas.openxmlformats.org/officeDocument/2006/relationships/tags" Target="../tags/tag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shivuk.co.il/%D7%A9%D7%99%D7%A8%D7%95%D7%AA-%D7%94%D7%95%D7%90-%D7%94%D7%A9%D7%99%D7%95%D7%95%D7%A7-%D7%94%D7%97%D7%93%D7%A9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F9C23-7B1E-4CF6-AD38-2979D3D7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11"/>
            <a:ext cx="10954732" cy="1031877"/>
          </a:xfrm>
        </p:spPr>
        <p:txBody>
          <a:bodyPr>
            <a:normAutofit fontScale="90000"/>
          </a:bodyPr>
          <a:lstStyle/>
          <a:p>
            <a:pPr algn="r"/>
            <a:r>
              <a:rPr lang="he-IL" b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שימור לקוחות והתנהגות אחרי קניה - שיעור א- סנכרוני </a:t>
            </a:r>
            <a:r>
              <a:rPr lang="en-US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he-IL" u="sng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3234B-45D2-4EB7-A2C2-0F2C7EF75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4" y="1847851"/>
            <a:ext cx="960852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יחידה מס 1-  חזרה על שיעורים קודמים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יחידה מס 2- למה לשמר לקוח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יחידה מס 3- איך לשמר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יחידה מס 4- תרגיל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יחידה מס 5- סכום 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8F2AFEF-993F-4038-AB04-378E476FD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ד"ר איריס גרטנרמוריוסף המכללה האקדמית הדסה</a:t>
            </a:r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512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435"/>
    </mc:Choice>
    <mc:Fallback xmlns="">
      <p:transition spd="slow" advTm="434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66F426DE-9B86-6C44-9C38-BB408D78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675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ד"ר איריס גרטנר מוריוסף </a:t>
            </a: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8E0638E0-1B8F-E7A1-972E-B157DF26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64EEFC-0A7B-4440-9F68-BE8B81A029BF}" type="slidenum">
              <a:rPr kumimoji="0" lang="he-IL" sz="675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he-IL" sz="675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4" name="טבלה 4">
            <a:extLst>
              <a:ext uri="{FF2B5EF4-FFF2-40B4-BE49-F238E27FC236}">
                <a16:creationId xmlns:a16="http://schemas.microsoft.com/office/drawing/2014/main" id="{A29199BD-D34E-7777-42DD-1D10D048BD05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6805924"/>
        </p:xfrm>
        <a:graphic>
          <a:graphicData uri="http://schemas.openxmlformats.org/drawingml/2006/table">
            <a:tbl>
              <a:tblPr rtl="1" firstRow="1" bandRow="1">
                <a:tableStyleId>{8EC20E35-A176-4012-BC5E-935CFFF8708E}</a:tableStyleId>
              </a:tblPr>
              <a:tblGrid>
                <a:gridCol w="2920778">
                  <a:extLst>
                    <a:ext uri="{9D8B030D-6E8A-4147-A177-3AD203B41FA5}">
                      <a16:colId xmlns:a16="http://schemas.microsoft.com/office/drawing/2014/main" val="1897199134"/>
                    </a:ext>
                  </a:extLst>
                </a:gridCol>
                <a:gridCol w="4281971">
                  <a:extLst>
                    <a:ext uri="{9D8B030D-6E8A-4147-A177-3AD203B41FA5}">
                      <a16:colId xmlns:a16="http://schemas.microsoft.com/office/drawing/2014/main" val="2628309527"/>
                    </a:ext>
                  </a:extLst>
                </a:gridCol>
                <a:gridCol w="4989251">
                  <a:extLst>
                    <a:ext uri="{9D8B030D-6E8A-4147-A177-3AD203B41FA5}">
                      <a16:colId xmlns:a16="http://schemas.microsoft.com/office/drawing/2014/main" val="1413253926"/>
                    </a:ext>
                  </a:extLst>
                </a:gridCol>
              </a:tblGrid>
              <a:tr h="967869">
                <a:tc>
                  <a:txBody>
                    <a:bodyPr/>
                    <a:lstStyle/>
                    <a:p>
                      <a:pPr algn="ctr" rtl="1"/>
                      <a:r>
                        <a:rPr lang="he-IL" sz="24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שלב </a:t>
                      </a:r>
                    </a:p>
                    <a:p>
                      <a:pPr algn="ctr" rtl="1"/>
                      <a:endParaRPr lang="he-IL" sz="24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400" b="1" dirty="0">
                          <a:solidFill>
                            <a:srgbClr val="C00000"/>
                          </a:solidFill>
                        </a:rPr>
                        <a:t>מצד צרכן </a:t>
                      </a:r>
                    </a:p>
                    <a:p>
                      <a:pPr algn="ctr" rtl="1"/>
                      <a:endParaRPr lang="he-IL" sz="24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400" b="1" dirty="0">
                          <a:solidFill>
                            <a:srgbClr val="C00000"/>
                          </a:solidFill>
                        </a:rPr>
                        <a:t>מצד משווק </a:t>
                      </a:r>
                    </a:p>
                    <a:p>
                      <a:pPr algn="ctr" rtl="1"/>
                      <a:r>
                        <a:rPr lang="he-IL" sz="2400" b="1" u="sng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נימוקים כל הזמן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951663"/>
                  </a:ext>
                </a:extLst>
              </a:tr>
              <a:tr h="790430">
                <a:tc>
                  <a:txBody>
                    <a:bodyPr/>
                    <a:lstStyle/>
                    <a:p>
                      <a:pPr algn="r" rtl="1"/>
                      <a:r>
                        <a:rPr lang="he-IL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צורך 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צורך מניע את הצרכן לרצות לרכוש מוצר/שירות </a:t>
                      </a:r>
                    </a:p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חשיפה לגירוי, הקשבה, פירוש 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לזהות או לעורר צורך ,לספק גירוי משמעותי </a:t>
                      </a:r>
                    </a:p>
                    <a:p>
                      <a:pPr algn="r" rtl="1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</a:rPr>
                        <a:t>גירוי מעניין, גירוי ברור .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442882"/>
                  </a:ext>
                </a:extLst>
              </a:tr>
              <a:tr h="790430">
                <a:tc>
                  <a:txBody>
                    <a:bodyPr/>
                    <a:lstStyle/>
                    <a:p>
                      <a:pPr algn="r" rtl="1"/>
                      <a:r>
                        <a:rPr lang="he-IL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מעורבות 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מעורבות נמוכה /גבוהה</a:t>
                      </a:r>
                    </a:p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מעורבות בטיחותית, כלכלית או חברתית 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העלאת המעורבות </a:t>
                      </a:r>
                    </a:p>
                    <a:p>
                      <a:pPr algn="r" rtl="1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התאמת המסרים למעורבות 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921906"/>
                  </a:ext>
                </a:extLst>
              </a:tr>
              <a:tr h="748505">
                <a:tc>
                  <a:txBody>
                    <a:bodyPr/>
                    <a:lstStyle/>
                    <a:p>
                      <a:pPr algn="r" rtl="1"/>
                      <a:r>
                        <a:rPr lang="he-IL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איסוף מידע 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האם מקור המידע הוא פנימי או חיצוני?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he-IL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לא מסחרי/מסחרי אישי/המוני 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איך לפנות ? באיזה ערוץ?  מה סדר החשיבות שלהם ?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מה יותר חשוב?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he-IL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 rtl="1">
                        <a:lnSpc>
                          <a:spcPct val="150000"/>
                        </a:lnSpc>
                      </a:pPr>
                      <a:r>
                        <a:rPr lang="he-IL" sz="1400" b="0" kern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באיזה מסר?</a:t>
                      </a:r>
                      <a:r>
                        <a:rPr lang="en-US" sz="1400" b="0" kern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he-IL" sz="1400" b="0" kern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יש להדגים את מקורות המידע ולנמק.</a:t>
                      </a:r>
                      <a:endParaRPr lang="en-US" sz="1400" kern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481594"/>
                  </a:ext>
                </a:extLst>
              </a:tr>
              <a:tr h="748505">
                <a:tc>
                  <a:txBody>
                    <a:bodyPr/>
                    <a:lstStyle/>
                    <a:p>
                      <a:pPr algn="r" rtl="1"/>
                      <a:r>
                        <a:rPr lang="he-IL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הערכה חלופות 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בחירת המודל  בחירת התכונות הערכת החלופה 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זיהוי תכונות חשובות ללקוח  זיהוי המודל הנבחר, </a:t>
                      </a:r>
                    </a:p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התאמת האסטרטגיה (מה התכונות החשובות, מה ידגיש..)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06380"/>
                  </a:ext>
                </a:extLst>
              </a:tr>
              <a:tr h="748505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e-IL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בחירה 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e-I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הצרכן מתלבט ובוחר את המוצר הטוב עבורו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e-IL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יש לו כוונה חיובית לרכוש 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לסגור את ההחלטה ולאפשר לו לרכוש</a:t>
                      </a:r>
                    </a:p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מבצעים,  פרסום  מקור איכותי ומתאים 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745470"/>
                  </a:ext>
                </a:extLst>
              </a:tr>
              <a:tr h="192723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e-IL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התנהגות אחרי קניה 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800" dirty="0"/>
                        <a:t>איך מתנהג הצרכן אחרי הקניה?</a:t>
                      </a:r>
                      <a:r>
                        <a:rPr lang="en-US" sz="1800" dirty="0"/>
                        <a:t> </a:t>
                      </a:r>
                      <a:endParaRPr lang="he-IL" sz="1800" dirty="0"/>
                    </a:p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800" dirty="0"/>
                        <a:t>תאר את ההתנהגות , רגשות ומצב אחרי הרכישה. האם יש דיסוננס , חרטה או רצון להחזיר את המוצר?</a:t>
                      </a:r>
                      <a:r>
                        <a:rPr lang="en-US" sz="1800" dirty="0"/>
                        <a:t> </a:t>
                      </a:r>
                      <a:endParaRPr lang="he-IL" sz="1800" dirty="0"/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e-IL" sz="18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800" dirty="0"/>
                        <a:t>מה עושה היום הפירמה לשמר את הלקוחות   ?</a:t>
                      </a:r>
                      <a:r>
                        <a:rPr lang="en-US" sz="1800" dirty="0"/>
                        <a:t> </a:t>
                      </a:r>
                      <a:endParaRPr lang="he-IL" sz="1800" dirty="0"/>
                    </a:p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800" dirty="0"/>
                        <a:t>על סמך התנהגות קניה ידועה, מה כדאי לה (אם בכלל) לעשות בנוסף?</a:t>
                      </a:r>
                      <a:r>
                        <a:rPr lang="en-US" sz="1800" dirty="0"/>
                        <a:t> </a:t>
                      </a:r>
                      <a:r>
                        <a:rPr lang="he-IL" sz="1800" dirty="0"/>
                        <a:t>הצע/י  רעיונות נוספים.</a:t>
                      </a:r>
                    </a:p>
                    <a:p>
                      <a:pPr algn="r" rtl="1">
                        <a:lnSpc>
                          <a:spcPct val="150000"/>
                        </a:lnSpc>
                      </a:pPr>
                      <a:r>
                        <a:rPr lang="he-IL" sz="1800" dirty="0"/>
                        <a:t>נמק את תשובתך </a:t>
                      </a:r>
                    </a:p>
                    <a:p>
                      <a:pPr rtl="1"/>
                      <a:endParaRPr lang="he-IL" sz="18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582122"/>
                  </a:ext>
                </a:extLst>
              </a:tr>
            </a:tbl>
          </a:graphicData>
        </a:graphic>
      </p:graphicFrame>
      <p:sp>
        <p:nvSpPr>
          <p:cNvPr id="10" name="חץ: למטה 9">
            <a:extLst>
              <a:ext uri="{FF2B5EF4-FFF2-40B4-BE49-F238E27FC236}">
                <a16:creationId xmlns:a16="http://schemas.microsoft.com/office/drawing/2014/main" id="{F2B08043-8D46-27A0-2390-3588A3828C0C}"/>
              </a:ext>
            </a:extLst>
          </p:cNvPr>
          <p:cNvSpPr/>
          <p:nvPr/>
        </p:nvSpPr>
        <p:spPr>
          <a:xfrm>
            <a:off x="9629030" y="1113183"/>
            <a:ext cx="504244" cy="4953663"/>
          </a:xfrm>
          <a:prstGeom prst="downArrow">
            <a:avLst>
              <a:gd name="adj1" fmla="val 91176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55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F9C23-7B1E-4CF6-AD38-2979D3D7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he-IL" sz="3600" b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יחידה מס 1- רציונל של התנהגות אחרי קניה </a:t>
            </a:r>
            <a:endParaRPr lang="he-IL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3234B-45D2-4EB7-A2C2-0F2C7EF75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866901"/>
            <a:ext cx="11450032" cy="4351338"/>
          </a:xfrm>
        </p:spPr>
        <p:txBody>
          <a:bodyPr>
            <a:normAutofit fontScale="925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400" i="1" dirty="0">
                <a:latin typeface="Calibri" panose="020F0502020204030204" pitchFamily="34" charset="0"/>
                <a:cs typeface="Calibri" panose="020F0502020204030204" pitchFamily="34" charset="0"/>
              </a:rPr>
              <a:t>התנהגות אחרי קניה היא שירות של ביטוח, </a:t>
            </a:r>
            <a:r>
              <a:rPr lang="he-IL" sz="2400" i="1" dirty="0" err="1">
                <a:latin typeface="Calibri" panose="020F0502020204030204" pitchFamily="34" charset="0"/>
                <a:cs typeface="Calibri" panose="020F0502020204030204" pitchFamily="34" charset="0"/>
              </a:rPr>
              <a:t>אחריוצ</a:t>
            </a:r>
            <a:r>
              <a:rPr lang="he-IL" sz="2400" i="1" dirty="0">
                <a:latin typeface="Calibri" panose="020F0502020204030204" pitchFamily="34" charset="0"/>
                <a:cs typeface="Calibri" panose="020F0502020204030204" pitchFamily="34" charset="0"/>
              </a:rPr>
              <a:t> או תיקונים או אפילו מידע לשאלות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400" i="1" dirty="0">
                <a:latin typeface="Calibri" panose="020F0502020204030204" pitchFamily="34" charset="0"/>
                <a:cs typeface="Calibri" panose="020F0502020204030204" pitchFamily="34" charset="0"/>
              </a:rPr>
              <a:t>מאפייני שירות(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2400" i="1" dirty="0">
                <a:latin typeface="Calibri" panose="020F0502020204030204" pitchFamily="34" charset="0"/>
                <a:cs typeface="Calibri" panose="020F0502020204030204" pitchFamily="34" charset="0"/>
              </a:rPr>
              <a:t>לא מוחשי , לא ניתן להערכה, חרדה גבוהה )מהווה אמצעי לבידול המוצר המוחשי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400" i="1" dirty="0">
                <a:latin typeface="Calibri" panose="020F0502020204030204" pitchFamily="34" charset="0"/>
                <a:cs typeface="Calibri" panose="020F0502020204030204" pitchFamily="34" charset="0"/>
              </a:rPr>
              <a:t>התנהגות צרכן לא מסתיימת בעת המכירה.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400" i="1" dirty="0">
                <a:latin typeface="Calibri" panose="020F0502020204030204" pitchFamily="34" charset="0"/>
                <a:cs typeface="Calibri" panose="020F0502020204030204" pitchFamily="34" charset="0"/>
              </a:rPr>
              <a:t>יש לייצר עם הצרכן מערכת יחסים ארוכת טווח על מנת להגדיר אותו לקוח נאמן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400" i="1" dirty="0">
                <a:latin typeface="Calibri" panose="020F0502020204030204" pitchFamily="34" charset="0"/>
                <a:cs typeface="Calibri" panose="020F0502020204030204" pitchFamily="34" charset="0"/>
              </a:rPr>
              <a:t>נתח לקוח על פני נתח שוק 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400" i="1" dirty="0">
                <a:latin typeface="Calibri" panose="020F0502020204030204" pitchFamily="34" charset="0"/>
                <a:cs typeface="Calibri" panose="020F0502020204030204" pitchFamily="34" charset="0"/>
              </a:rPr>
              <a:t>אחרי הקניה יש לשמר את הלקוח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he-IL" sz="2400" i="1" dirty="0">
                <a:latin typeface="Calibri" panose="020F0502020204030204" pitchFamily="34" charset="0"/>
                <a:cs typeface="Calibri" panose="020F0502020204030204" pitchFamily="34" charset="0"/>
              </a:rPr>
              <a:t>שימור הלקוח חשוב דווקא בשירות אחרי הקניה.</a:t>
            </a: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8F2AFEF-993F-4038-AB04-378E476FD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ד"ר איריס גרטנרמוריוסף המכללה האקדמית הדסה</a:t>
            </a:r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064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521"/>
    </mc:Choice>
    <mc:Fallback xmlns="">
      <p:transition spd="slow" advTm="12052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/>
          <p:cNvSpPr>
            <a:spLocks noGrp="1"/>
          </p:cNvSpPr>
          <p:nvPr>
            <p:ph idx="1"/>
          </p:nvPr>
        </p:nvSpPr>
        <p:spPr>
          <a:xfrm>
            <a:off x="1828192" y="691764"/>
            <a:ext cx="9438805" cy="502112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400" strike="sngStrike" dirty="0">
                <a:latin typeface="Calibri" panose="020F0502020204030204" pitchFamily="34" charset="0"/>
                <a:cs typeface="Calibri" panose="020F0502020204030204" pitchFamily="34" charset="0"/>
              </a:rPr>
              <a:t>יחידה מס 1-  חזרה על שיעורים קודמים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יחידה מס 2- למה לשמר לקוח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יחידה מס 3- איך לשמר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יחידה מס 4- תרגיל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יחידה מס 5- סכום </a:t>
            </a:r>
          </a:p>
        </p:txBody>
      </p:sp>
      <p:sp>
        <p:nvSpPr>
          <p:cNvPr id="2" name="מציין מיקום של כותרת תחתונה 1">
            <a:extLst>
              <a:ext uri="{FF2B5EF4-FFF2-40B4-BE49-F238E27FC236}">
                <a16:creationId xmlns:a16="http://schemas.microsoft.com/office/drawing/2014/main" id="{771B7D9B-0C32-4E2C-BBF0-F8DBEAFFC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3859" y="6356350"/>
            <a:ext cx="4894169" cy="365125"/>
          </a:xfrm>
        </p:spPr>
        <p:txBody>
          <a:bodyPr>
            <a:norm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ד"ר איריס גרטנרמוריוסף המכללה האקדמית הדסה</a:t>
            </a:r>
            <a:endParaRPr kumimoji="0" lang="en-IL" sz="105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OK יועצים לניהול">
            <a:extLst>
              <a:ext uri="{FF2B5EF4-FFF2-40B4-BE49-F238E27FC236}">
                <a16:creationId xmlns:a16="http://schemas.microsoft.com/office/drawing/2014/main" id="{4AACD779-9871-4DE7-8F03-179F2CA34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3781425"/>
            <a:ext cx="362902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DB9A3CF8-28D2-489E-91D4-8111DDB17E66}"/>
              </a:ext>
            </a:extLst>
          </p:cNvPr>
          <p:cNvSpPr txBox="1"/>
          <p:nvPr/>
        </p:nvSpPr>
        <p:spPr>
          <a:xfrm>
            <a:off x="4867275" y="77578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0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יחידה מס 2- למה לשמר? </a:t>
            </a:r>
            <a:endParaRPr kumimoji="0" lang="en-IL" sz="4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38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973"/>
    </mc:Choice>
    <mc:Fallback xmlns="">
      <p:transition spd="slow" advTm="3797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72306" y="143723"/>
            <a:ext cx="7886700" cy="994172"/>
          </a:xfrm>
        </p:spPr>
        <p:txBody>
          <a:bodyPr>
            <a:normAutofit/>
          </a:bodyPr>
          <a:lstStyle/>
          <a:p>
            <a:pPr algn="r"/>
            <a:r>
              <a:rPr lang="he-IL" sz="4000" b="1" u="sng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שימור לקוחות – מה זה?</a:t>
            </a:r>
            <a:r>
              <a:rPr lang="en-US" sz="4000" b="1" u="sng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he-IL" sz="3200" b="1" u="sng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85775" y="642812"/>
            <a:ext cx="11220450" cy="4670823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הלקוח הוא הסיבה לקיומי</a:t>
            </a: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לקוח הוא חכם לפחות כמוני</a:t>
            </a: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ידע הוא משאב נגיש</a:t>
            </a: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הלקוח מעודד תחרות </a:t>
            </a: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הלקוח מחפש תמורה מלאה עבור כספו</a:t>
            </a: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הלקוח יודע ומעריך את כוחו </a:t>
            </a:r>
          </a:p>
          <a:p>
            <a:pPr algn="r" rtl="1"/>
            <a:endParaRPr lang="he-IL" sz="1800" b="1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67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panose="020B0604020202020204" pitchFamily="34" charset="0"/>
              </a:rPr>
              <a:t>ד"ר איריס גרטנר מוריוסף </a:t>
            </a:r>
            <a:endParaRPr kumimoji="0" lang="en-US" altLang="he-IL" sz="67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858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883FD7-895D-4A4B-A981-FD89C4717F78}" type="slidenum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6858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86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480178" y="106088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he-IL" sz="4000" b="1" u="sng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שימור לקוחות –למה?</a:t>
            </a:r>
            <a:r>
              <a:rPr lang="en-US" sz="4000" b="1" u="sng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he-IL" sz="3200" b="1" u="sng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838200" y="250824"/>
            <a:ext cx="11220450" cy="5960790"/>
          </a:xfrm>
        </p:spPr>
        <p:txBody>
          <a:bodyPr>
            <a:normAutofit fontScale="62500" lnSpcReduction="20000"/>
          </a:bodyPr>
          <a:lstStyle/>
          <a:p>
            <a:pPr algn="r" rtl="1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he-IL" sz="3400" dirty="0">
                <a:latin typeface="Calibri" panose="020F0502020204030204" pitchFamily="34" charset="0"/>
                <a:cs typeface="Calibri" panose="020F0502020204030204" pitchFamily="34" charset="0"/>
              </a:rPr>
              <a:t>לא מפחדים להחליף.</a:t>
            </a:r>
          </a:p>
          <a:p>
            <a:pPr algn="r" rtl="1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he-IL" sz="3400" dirty="0">
                <a:latin typeface="Calibri" panose="020F0502020204030204" pitchFamily="34" charset="0"/>
                <a:cs typeface="Calibri" panose="020F0502020204030204" pitchFamily="34" charset="0"/>
              </a:rPr>
              <a:t>לא מבחינים בהבדלים .</a:t>
            </a:r>
          </a:p>
          <a:p>
            <a:pPr algn="r" rtl="1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he-IL" sz="3400" dirty="0">
                <a:latin typeface="Calibri" panose="020F0502020204030204" pitchFamily="34" charset="0"/>
                <a:cs typeface="Calibri" panose="020F0502020204030204" pitchFamily="34" charset="0"/>
              </a:rPr>
              <a:t>שירות = </a:t>
            </a:r>
            <a:r>
              <a:rPr lang="pt-BR" sz="3400" dirty="0">
                <a:latin typeface="Calibri" panose="020F0502020204030204" pitchFamily="34" charset="0"/>
                <a:cs typeface="Calibri" panose="020F0502020204030204" pitchFamily="34" charset="0"/>
              </a:rPr>
              <a:t>Added Value </a:t>
            </a:r>
          </a:p>
          <a:p>
            <a:pPr algn="r" rtl="1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pt-BR" sz="3400" dirty="0">
                <a:latin typeface="Calibri" panose="020F0502020204030204" pitchFamily="34" charset="0"/>
                <a:cs typeface="Calibri" panose="020F0502020204030204" pitchFamily="34" charset="0"/>
              </a:rPr>
              <a:t>40% </a:t>
            </a:r>
            <a:r>
              <a:rPr lang="he-IL" sz="3400" dirty="0">
                <a:latin typeface="Calibri" panose="020F0502020204030204" pitchFamily="34" charset="0"/>
                <a:cs typeface="Calibri" panose="020F0502020204030204" pitchFamily="34" charset="0"/>
              </a:rPr>
              <a:t>ישלמו עוד 5%.</a:t>
            </a:r>
          </a:p>
          <a:p>
            <a:pPr algn="r" rtl="1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he-IL" sz="3400" dirty="0">
                <a:latin typeface="Calibri" panose="020F0502020204030204" pitchFamily="34" charset="0"/>
                <a:cs typeface="Calibri" panose="020F0502020204030204" pitchFamily="34" charset="0"/>
              </a:rPr>
              <a:t>תמורה ולא רק מחיר .</a:t>
            </a:r>
          </a:p>
          <a:p>
            <a:pPr algn="r" rtl="1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he-IL" sz="3400" dirty="0">
                <a:latin typeface="Calibri" panose="020F0502020204030204" pitchFamily="34" charset="0"/>
                <a:cs typeface="Calibri" panose="020F0502020204030204" pitchFamily="34" charset="0"/>
              </a:rPr>
              <a:t> 86%  </a:t>
            </a:r>
            <a:r>
              <a:rPr lang="he-IL" sz="3400" dirty="0" err="1">
                <a:latin typeface="Calibri" panose="020F0502020204030204" pitchFamily="34" charset="0"/>
                <a:cs typeface="Calibri" panose="020F0502020204030204" pitchFamily="34" charset="0"/>
              </a:rPr>
              <a:t>ינטשו</a:t>
            </a:r>
            <a:r>
              <a:rPr lang="he-IL" sz="3400" dirty="0">
                <a:latin typeface="Calibri" panose="020F0502020204030204" pitchFamily="34" charset="0"/>
                <a:cs typeface="Calibri" panose="020F0502020204030204" pitchFamily="34" charset="0"/>
              </a:rPr>
              <a:t> בגלל חווית שירות גרועה</a:t>
            </a:r>
          </a:p>
          <a:p>
            <a:pPr algn="r" rtl="1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he-IL" sz="3400" dirty="0">
                <a:latin typeface="Calibri" panose="020F0502020204030204" pitchFamily="34" charset="0"/>
                <a:cs typeface="Calibri" panose="020F0502020204030204" pitchFamily="34" charset="0"/>
              </a:rPr>
              <a:t>51%  יבקשו תמיכה לפני נטישה </a:t>
            </a:r>
          </a:p>
          <a:p>
            <a:pPr algn="r" rtl="1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he-IL" sz="3400" dirty="0">
                <a:latin typeface="Calibri" panose="020F0502020204030204" pitchFamily="34" charset="0"/>
                <a:cs typeface="Calibri" panose="020F0502020204030204" pitchFamily="34" charset="0"/>
              </a:rPr>
              <a:t>65% - לקוחות חוזרים .</a:t>
            </a:r>
          </a:p>
          <a:p>
            <a:pPr algn="r" rtl="1"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he-IL" sz="3400" dirty="0">
                <a:latin typeface="Calibri" panose="020F0502020204030204" pitchFamily="34" charset="0"/>
                <a:cs typeface="Calibri" panose="020F0502020204030204" pitchFamily="34" charset="0"/>
              </a:rPr>
              <a:t>נתח לקוח על פני נתח שוק </a:t>
            </a:r>
          </a:p>
          <a:p>
            <a:pPr algn="r" rtl="1"/>
            <a:endParaRPr lang="he-IL" sz="1800" b="1" dirty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67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panose="020B0604020202020204" pitchFamily="34" charset="0"/>
              </a:rPr>
              <a:t>ד"ר איריס גרטנר מוריוסף </a:t>
            </a:r>
            <a:endParaRPr kumimoji="0" lang="en-US" altLang="he-IL" sz="67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6858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883FD7-895D-4A4B-A981-FD89C4717F78}" type="slidenum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6858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675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782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618" y="171049"/>
            <a:ext cx="10550250" cy="877766"/>
          </a:xfrm>
        </p:spPr>
        <p:txBody>
          <a:bodyPr>
            <a:noAutofit/>
          </a:bodyPr>
          <a:lstStyle/>
          <a:p>
            <a:pPr marL="0" marR="0" lvl="0" indent="0" algn="ct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4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למה לשמר לקוחות/המשך</a:t>
            </a:r>
            <a:endParaRPr kumimoji="0" lang="en-US" altLang="he-IL" sz="4400" b="1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670049" y="1355803"/>
          <a:ext cx="7778495" cy="5414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>
          <a:xfrm>
            <a:off x="1453663" y="6201122"/>
            <a:ext cx="7619999" cy="365125"/>
          </a:xfrm>
        </p:spPr>
        <p:txBody>
          <a:bodyPr/>
          <a:lstStyle/>
          <a:p>
            <a:pPr marL="0" marR="0" lvl="0" indent="0" algn="l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ד"ר איריס גרטנר </a:t>
            </a:r>
            <a:r>
              <a:rPr kumimoji="0" lang="he-IL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מוריוסף</a:t>
            </a:r>
            <a:r>
              <a:rPr kumimoji="0" lang="he-IL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</a:t>
            </a:r>
          </a:p>
          <a:p>
            <a:pPr marL="0" marR="0" lvl="0" indent="0" algn="l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המכללה האקדמית הדסה 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F9B3C348-9E1B-4A60-B61F-D114C383C208}"/>
              </a:ext>
            </a:extLst>
          </p:cNvPr>
          <p:cNvSpPr txBox="1"/>
          <p:nvPr/>
        </p:nvSpPr>
        <p:spPr>
          <a:xfrm>
            <a:off x="9073662" y="1991762"/>
            <a:ext cx="2089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לקוח מאוכזב </a:t>
            </a:r>
            <a:endParaRPr kumimoji="0" lang="en-IL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3F3B9A78-037D-4DFA-817B-F298F8AAF22D}"/>
              </a:ext>
            </a:extLst>
          </p:cNvPr>
          <p:cNvSpPr txBox="1"/>
          <p:nvPr/>
        </p:nvSpPr>
        <p:spPr>
          <a:xfrm>
            <a:off x="8181431" y="3788938"/>
            <a:ext cx="2089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לקוח חדש </a:t>
            </a:r>
            <a:endParaRPr kumimoji="0" lang="en-IL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21AC36CC-0154-4751-8B17-7983C02EC0EB}"/>
              </a:ext>
            </a:extLst>
          </p:cNvPr>
          <p:cNvSpPr txBox="1"/>
          <p:nvPr/>
        </p:nvSpPr>
        <p:spPr>
          <a:xfrm>
            <a:off x="6931548" y="5432469"/>
            <a:ext cx="2089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לקוח קיים </a:t>
            </a:r>
            <a:endParaRPr kumimoji="0" lang="en-IL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754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008"/>
    </mc:Choice>
    <mc:Fallback xmlns="">
      <p:transition spd="slow" advTm="8800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0552C20-F78C-4EA1-BD42-F1631427D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יחידה 3- שימור לקוחות </a:t>
            </a:r>
            <a:endParaRPr lang="en-IL" b="1" u="sng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658BBAA-BABB-4C4F-8019-F22329CC2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162" y="1690688"/>
            <a:ext cx="10515600" cy="480218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he-IL" sz="2400" strike="sngStrike" dirty="0">
                <a:latin typeface="Calibri" panose="020F0502020204030204" pitchFamily="34" charset="0"/>
                <a:cs typeface="Calibri" panose="020F0502020204030204" pitchFamily="34" charset="0"/>
              </a:rPr>
              <a:t>יחידה מס 1-  חזרה על שיעורים קודמים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strike="sngStrike" dirty="0">
                <a:latin typeface="Calibri" panose="020F0502020204030204" pitchFamily="34" charset="0"/>
                <a:cs typeface="Calibri" panose="020F0502020204030204" pitchFamily="34" charset="0"/>
              </a:rPr>
              <a:t>יחידה מס 2- למה לשמר לקוח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יחידה מס 3- איך לשמר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יחידה מס 4- תרגיל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יחידה מס 5- סכום </a:t>
            </a:r>
          </a:p>
          <a:p>
            <a:pPr>
              <a:lnSpc>
                <a:spcPct val="150000"/>
              </a:lnSpc>
            </a:pPr>
            <a:endParaRPr lang="he-IL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L" b="1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C89D382-F0B6-417F-8020-528CD979E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ד"ר איריס גרטנרמוריוסף המכללה האקדמית הדסה</a:t>
            </a:r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OK יועצים לניהול">
            <a:extLst>
              <a:ext uri="{FF2B5EF4-FFF2-40B4-BE49-F238E27FC236}">
                <a16:creationId xmlns:a16="http://schemas.microsoft.com/office/drawing/2014/main" id="{C6FF621E-27AD-4267-B6DE-FB9D79A13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3" y="3733800"/>
            <a:ext cx="362902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32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68"/>
    </mc:Choice>
    <mc:Fallback xmlns="">
      <p:transition spd="slow" advTm="2496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280BE6A-D579-46DD-A6EF-8A4025F2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שימור לקוחות </a:t>
            </a:r>
            <a:endParaRPr lang="en-IL" b="1" u="sng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3A0CE32-CE8B-49D4-BAEA-1A051CDFA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  <a:spcBef>
                <a:spcPct val="20000"/>
              </a:spcBef>
              <a:buClr>
                <a:srgbClr val="800000"/>
              </a:buClr>
              <a:buSzPct val="70000"/>
              <a:buFontTx/>
              <a:buChar char="•"/>
            </a:pPr>
            <a:r>
              <a:rPr lang="he-IL" alt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חזית אטרקטיבית , בולטות ושילוט ברור</a:t>
            </a:r>
          </a:p>
          <a:p>
            <a:pPr algn="r" rtl="1">
              <a:lnSpc>
                <a:spcPct val="150000"/>
              </a:lnSpc>
              <a:spcBef>
                <a:spcPct val="20000"/>
              </a:spcBef>
              <a:buClr>
                <a:srgbClr val="800000"/>
              </a:buClr>
              <a:buSzPct val="70000"/>
              <a:buFontTx/>
              <a:buChar char="•"/>
            </a:pPr>
            <a:r>
              <a:rPr lang="he-IL" alt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חניה נוחה</a:t>
            </a:r>
          </a:p>
          <a:p>
            <a:pPr algn="r" rtl="1">
              <a:lnSpc>
                <a:spcPct val="150000"/>
              </a:lnSpc>
              <a:spcBef>
                <a:spcPct val="20000"/>
              </a:spcBef>
              <a:buClr>
                <a:srgbClr val="800000"/>
              </a:buClr>
              <a:buSzPct val="70000"/>
              <a:buFontTx/>
              <a:buChar char="•"/>
            </a:pPr>
            <a:r>
              <a:rPr lang="he-IL" alt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הסבר על כל מחלקה </a:t>
            </a:r>
          </a:p>
          <a:p>
            <a:pPr algn="r" rtl="1">
              <a:lnSpc>
                <a:spcPct val="150000"/>
              </a:lnSpc>
              <a:spcBef>
                <a:spcPct val="20000"/>
              </a:spcBef>
              <a:buClr>
                <a:srgbClr val="800000"/>
              </a:buClr>
              <a:buSzPct val="70000"/>
              <a:buFontTx/>
              <a:buChar char="•"/>
            </a:pPr>
            <a:r>
              <a:rPr lang="he-IL" alt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מיקוד של נותני השירות ,מדים ,תגים</a:t>
            </a:r>
          </a:p>
          <a:p>
            <a:pPr algn="r" rtl="1">
              <a:lnSpc>
                <a:spcPct val="150000"/>
              </a:lnSpc>
              <a:spcBef>
                <a:spcPct val="20000"/>
              </a:spcBef>
              <a:buClr>
                <a:srgbClr val="800000"/>
              </a:buClr>
              <a:buSzPct val="70000"/>
              <a:buFontTx/>
              <a:buChar char="•"/>
            </a:pPr>
            <a:r>
              <a:rPr lang="he-IL" alt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אוירה נעימה במחלקות שירות </a:t>
            </a:r>
          </a:p>
          <a:p>
            <a:pPr algn="r" rtl="1">
              <a:lnSpc>
                <a:spcPct val="150000"/>
              </a:lnSpc>
              <a:spcBef>
                <a:spcPct val="20000"/>
              </a:spcBef>
              <a:buClr>
                <a:srgbClr val="800000"/>
              </a:buClr>
              <a:buSzPct val="70000"/>
              <a:buFontTx/>
              <a:buChar char="•"/>
            </a:pPr>
            <a:r>
              <a:rPr lang="he-IL" alt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חווית שירות נעימה </a:t>
            </a:r>
          </a:p>
          <a:p>
            <a:pPr algn="r" rtl="1">
              <a:lnSpc>
                <a:spcPct val="150000"/>
              </a:lnSpc>
              <a:spcBef>
                <a:spcPct val="20000"/>
              </a:spcBef>
              <a:buClr>
                <a:srgbClr val="800000"/>
              </a:buClr>
              <a:buSzPct val="70000"/>
              <a:buFontTx/>
              <a:buChar char="•"/>
            </a:pPr>
            <a:r>
              <a:rPr lang="he-IL" altLang="he-IL" sz="2200" dirty="0">
                <a:latin typeface="Calibri" panose="020F0502020204030204" pitchFamily="34" charset="0"/>
                <a:cs typeface="Calibri" panose="020F0502020204030204" pitchFamily="34" charset="0"/>
              </a:rPr>
              <a:t>התנסות  ראשונה</a:t>
            </a:r>
          </a:p>
          <a:p>
            <a:pPr algn="r" rtl="1">
              <a:spcBef>
                <a:spcPct val="20000"/>
              </a:spcBef>
              <a:buClr>
                <a:srgbClr val="800000"/>
              </a:buClr>
              <a:buSzPct val="70000"/>
              <a:buFontTx/>
              <a:buChar char="•"/>
            </a:pPr>
            <a:endParaRPr lang="en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55781DC-A158-42C4-BF7B-93429EAA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ד"ר איריס גרטנרמוריוסף המכללה האקדמית הדסה</a:t>
            </a:r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2" descr="Image result for ‫סביבת השירות‬‎">
            <a:extLst>
              <a:ext uri="{FF2B5EF4-FFF2-40B4-BE49-F238E27FC236}">
                <a16:creationId xmlns:a16="http://schemas.microsoft.com/office/drawing/2014/main" id="{89CB1D70-269F-4922-BBB7-CFEFA472E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18182">
            <a:off x="773686" y="2681996"/>
            <a:ext cx="4234376" cy="286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91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642"/>
    </mc:Choice>
    <mc:Fallback xmlns="">
      <p:transition spd="slow" advTm="8164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280BE6A-D579-46DD-A6EF-8A4025F2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שימור לקוחות – המשך </a:t>
            </a:r>
            <a:endParaRPr lang="en-IL" b="1" u="sng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3A0CE32-CE8B-49D4-BAEA-1A051CDFA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92384" cy="4486275"/>
          </a:xfrm>
        </p:spPr>
        <p:txBody>
          <a:bodyPr>
            <a:normAutofit/>
          </a:bodyPr>
          <a:lstStyle/>
          <a:p>
            <a:pPr algn="r" rtl="1">
              <a:lnSpc>
                <a:spcPct val="120000"/>
              </a:lnSpc>
              <a:spcBef>
                <a:spcPct val="5000"/>
              </a:spcBef>
              <a:buSzPct val="75000"/>
              <a:buFontTx/>
              <a:buChar char="•"/>
            </a:pPr>
            <a:r>
              <a:rPr lang="he-IL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תיאום ציפיות </a:t>
            </a:r>
          </a:p>
          <a:p>
            <a:pPr algn="r" rtl="1">
              <a:lnSpc>
                <a:spcPct val="120000"/>
              </a:lnSpc>
              <a:spcBef>
                <a:spcPct val="5000"/>
              </a:spcBef>
              <a:buSzPct val="75000"/>
              <a:buFontTx/>
              <a:buChar char="•"/>
            </a:pPr>
            <a:r>
              <a:rPr lang="he-IL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חווית שירות לאורך זמן </a:t>
            </a:r>
          </a:p>
          <a:p>
            <a:pPr algn="r" rtl="1">
              <a:lnSpc>
                <a:spcPct val="120000"/>
              </a:lnSpc>
              <a:spcBef>
                <a:spcPct val="5000"/>
              </a:spcBef>
              <a:buSzPct val="75000"/>
              <a:buFontTx/>
              <a:buChar char="•"/>
            </a:pPr>
            <a:r>
              <a:rPr lang="he-IL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משוב דו סטרי</a:t>
            </a:r>
          </a:p>
          <a:p>
            <a:pPr>
              <a:lnSpc>
                <a:spcPct val="120000"/>
              </a:lnSpc>
              <a:spcBef>
                <a:spcPct val="5000"/>
              </a:spcBef>
              <a:buSzPct val="75000"/>
              <a:buFontTx/>
              <a:buChar char="•"/>
            </a:pPr>
            <a:r>
              <a:rPr lang="he-IL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לתת מעבר </a:t>
            </a:r>
            <a:r>
              <a:rPr lang="en-US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WOW</a:t>
            </a:r>
            <a:endParaRPr lang="he-IL" altLang="he-IL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lnSpc>
                <a:spcPct val="120000"/>
              </a:lnSpc>
              <a:spcBef>
                <a:spcPct val="5000"/>
              </a:spcBef>
              <a:buSzPct val="75000"/>
              <a:buFontTx/>
              <a:buChar char="•"/>
            </a:pPr>
            <a:r>
              <a:rPr lang="he-IL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מועדון לקוחות</a:t>
            </a:r>
          </a:p>
          <a:p>
            <a:pPr algn="r" rtl="1">
              <a:lnSpc>
                <a:spcPct val="120000"/>
              </a:lnSpc>
              <a:spcBef>
                <a:spcPct val="5000"/>
              </a:spcBef>
              <a:buSzPct val="75000"/>
              <a:buFontTx/>
              <a:buChar char="•"/>
            </a:pPr>
            <a:r>
              <a:rPr lang="he-IL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אמנת שירות</a:t>
            </a:r>
          </a:p>
          <a:p>
            <a:pPr algn="r" rtl="1">
              <a:spcBef>
                <a:spcPct val="20000"/>
              </a:spcBef>
              <a:buClr>
                <a:srgbClr val="800000"/>
              </a:buClr>
              <a:buSzPct val="70000"/>
              <a:buFontTx/>
              <a:buChar char="•"/>
            </a:pPr>
            <a:endParaRPr lang="en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55781DC-A158-42C4-BF7B-93429EAA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ד"ר איריס גרטנרמוריוסף המכללה האקדמית הדסה</a:t>
            </a:r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Image result for ‫תגמול עובדים‬‎">
            <a:extLst>
              <a:ext uri="{FF2B5EF4-FFF2-40B4-BE49-F238E27FC236}">
                <a16:creationId xmlns:a16="http://schemas.microsoft.com/office/drawing/2014/main" id="{0202BF36-7B94-42EA-84EE-3C09BDDD8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123" y="1825625"/>
            <a:ext cx="405765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1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1284"/>
    </mc:Choice>
    <mc:Fallback xmlns="">
      <p:transition spd="slow" advTm="2712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280BE6A-D579-46DD-A6EF-8A4025F2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he-IL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שימור לקוחות – המשך </a:t>
            </a:r>
            <a:endParaRPr lang="en-IL" u="sng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3A0CE32-CE8B-49D4-BAEA-1A051CDFA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23439" y="1653871"/>
            <a:ext cx="12182771" cy="4155655"/>
          </a:xfrm>
        </p:spPr>
        <p:txBody>
          <a:bodyPr anchor="ctr">
            <a:normAutofit/>
          </a:bodyPr>
          <a:lstStyle/>
          <a:p>
            <a:pPr rtl="1">
              <a:lnSpc>
                <a:spcPct val="150000"/>
              </a:lnSpc>
              <a:spcBef>
                <a:spcPts val="0"/>
              </a:spcBef>
              <a:buClr>
                <a:srgbClr val="800000"/>
              </a:buClr>
              <a:buSzPct val="70000"/>
              <a:buFontTx/>
              <a:buChar char="•"/>
            </a:pPr>
            <a:r>
              <a:rPr lang="he-IL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לצמצם נטישה.</a:t>
            </a:r>
          </a:p>
          <a:p>
            <a:pPr rtl="1">
              <a:lnSpc>
                <a:spcPct val="150000"/>
              </a:lnSpc>
              <a:spcBef>
                <a:spcPts val="0"/>
              </a:spcBef>
              <a:buClr>
                <a:srgbClr val="800000"/>
              </a:buClr>
              <a:buSzPct val="70000"/>
              <a:buFontTx/>
              <a:buChar char="•"/>
            </a:pPr>
            <a:r>
              <a:rPr lang="he-IL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להחזיר מוצר .</a:t>
            </a:r>
          </a:p>
          <a:p>
            <a:pPr rtl="1">
              <a:lnSpc>
                <a:spcPct val="150000"/>
              </a:lnSpc>
              <a:spcBef>
                <a:spcPts val="0"/>
              </a:spcBef>
              <a:buClr>
                <a:srgbClr val="800000"/>
              </a:buClr>
              <a:buSzPct val="70000"/>
              <a:buFontTx/>
              <a:buChar char="•"/>
            </a:pPr>
            <a:r>
              <a:rPr lang="he-IL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לתת פיצוי .</a:t>
            </a:r>
          </a:p>
          <a:p>
            <a:pPr rtl="1">
              <a:lnSpc>
                <a:spcPct val="150000"/>
              </a:lnSpc>
              <a:spcBef>
                <a:spcPts val="0"/>
              </a:spcBef>
              <a:buClr>
                <a:srgbClr val="800000"/>
              </a:buClr>
              <a:buSzPct val="70000"/>
              <a:buFontTx/>
              <a:buChar char="•"/>
            </a:pPr>
            <a:r>
              <a:rPr lang="he-IL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מה צריך להיות על מנת שתחזור להיות לקוח מרוצה שלי?</a:t>
            </a:r>
            <a:r>
              <a:rPr lang="en-US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alt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שאלה </a:t>
            </a:r>
            <a:r>
              <a:rPr lang="he-IL" altLang="he-IL" sz="2400" b="1" dirty="0">
                <a:latin typeface="Calibri" panose="020F0502020204030204" pitchFamily="34" charset="0"/>
                <a:cs typeface="Calibri" panose="020F0502020204030204" pitchFamily="34" charset="0"/>
              </a:rPr>
              <a:t>פתוחה </a:t>
            </a:r>
          </a:p>
          <a:p>
            <a:pPr rtl="1">
              <a:spcBef>
                <a:spcPct val="5000"/>
              </a:spcBef>
              <a:buSzPct val="75000"/>
              <a:buFontTx/>
              <a:buChar char="•"/>
            </a:pPr>
            <a:endParaRPr lang="he-IL" altLang="he-IL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rtl="1">
              <a:spcBef>
                <a:spcPct val="20000"/>
              </a:spcBef>
              <a:buClr>
                <a:srgbClr val="800000"/>
              </a:buClr>
              <a:buSzPct val="70000"/>
              <a:buFontTx/>
              <a:buChar char="•"/>
            </a:pPr>
            <a:endParaRPr lang="en-IL" sz="2400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55781DC-A158-42C4-BF7B-93429EAA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3859" y="6356350"/>
            <a:ext cx="4894169" cy="365125"/>
          </a:xfrm>
        </p:spPr>
        <p:txBody>
          <a:bodyPr>
            <a:norm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ד"ר איריס גרטנרמוריוסף המכללה האקדמית הדסה</a:t>
            </a:r>
            <a:endParaRPr kumimoji="0" lang="en-IL" sz="105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37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664"/>
    </mc:Choice>
    <mc:Fallback xmlns="">
      <p:transition spd="slow" advTm="34566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BCAF7ED-F777-427D-B635-B8252D81C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דרכים לשימור הלקוח לפני תלונה:</a:t>
            </a:r>
            <a:r>
              <a:rPr lang="en-US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L" b="1" u="sng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93FDFB4-2DD4-4C6A-956E-F510C279E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670" y="1420109"/>
            <a:ext cx="11787702" cy="48375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הלקוח הוא הגורם החשוב ביותר בארגון .</a:t>
            </a:r>
          </a:p>
          <a:p>
            <a:pPr>
              <a:lnSpc>
                <a:spcPct val="150000"/>
              </a:lnSpc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ערך מוסף .</a:t>
            </a:r>
          </a:p>
          <a:p>
            <a:pPr>
              <a:lnSpc>
                <a:spcPct val="150000"/>
              </a:lnSpc>
            </a:pPr>
            <a:r>
              <a:rPr lang="he-IL" sz="2400" dirty="0">
                <a:latin typeface="Calibri" panose="020F0502020204030204" pitchFamily="34" charset="0"/>
                <a:cs typeface="Calibri" panose="020F0502020204030204" pitchFamily="34" charset="0"/>
              </a:rPr>
              <a:t>שביעות רצון מהרכישה.</a:t>
            </a: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</a:pPr>
            <a:r>
              <a:rPr lang="he-IL" altLang="he-I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שיפור השירות באופן עקבי ושוטף .</a:t>
            </a: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</a:pPr>
            <a:r>
              <a:rPr lang="he-IL" altLang="he-I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תיאום ציפיות.</a:t>
            </a: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</a:pPr>
            <a:r>
              <a:rPr lang="he-IL" altLang="he-I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משוב </a:t>
            </a: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</a:pPr>
            <a:r>
              <a:rPr lang="he-IL" altLang="he-I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לזכור שאנחנו מפתחים מערכת יחסים ארוכת טווח עם הלקוח </a:t>
            </a:r>
            <a:r>
              <a:rPr lang="en-US" altLang="he-I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he-IL" altLang="he-IL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r" rtl="1" fontAlgn="base"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None/>
            </a:pPr>
            <a:endParaRPr lang="en-IL" sz="1800" b="1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EB90E31-CCFC-478A-9CBC-FA46F6BF9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ד"ר איריס </a:t>
            </a:r>
            <a:r>
              <a:rPr kumimoji="0" lang="he-IL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גרטנרמוריוסף</a:t>
            </a:r>
            <a:r>
              <a:rPr kumimoji="0" lang="he-IL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 המכללה האקדמית הדסה</a:t>
            </a:r>
            <a:endParaRPr kumimoji="0" lang="en-IL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545C82B2-79B4-4E4B-9333-ECE74883B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667" y="2130955"/>
            <a:ext cx="2559737" cy="314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3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124"/>
    </mc:Choice>
    <mc:Fallback xmlns="">
      <p:transition spd="slow" advTm="6712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4277C8-4E3A-4838-A58A-5553052E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יחידה מס 4- תרגול אמצע </a:t>
            </a:r>
            <a:endParaRPr lang="en-IL" b="1" u="sng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BCA99D-1911-4C4A-BEF3-9A5652733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קראו את המאמר הבא ועני מה לדעתך הדרך היעילה ביותר לשמר את הלקוח לדעתך ?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60000"/>
              </a:lnSpc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"שירות הוא השיווק החדש"(גרטנר, מזוז 2018 )</a:t>
            </a:r>
          </a:p>
          <a:p>
            <a:pPr>
              <a:lnSpc>
                <a:spcPct val="160000"/>
              </a:lnSpc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https://www.ishivuk.co.il/%D7%A9%D7%99%D7%A8%D7%95%D7%AA-%D7%94%D7%95%D7%90-%D7%94%D7%A9%D7%99%D7%95%D7%95%D7%A7-%D7%94%D7%97%D7%93%D7%A9/</a:t>
            </a: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he-IL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לינק למאמר נמצא גם במצגת עצמה </a:t>
            </a:r>
            <a:endParaRPr lang="en-IL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8487DDE-9ECD-4F1F-A614-B147A712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ד"ר איריס גרטנרמוריוסף המכללה האקדמית הדסה</a:t>
            </a:r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41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887"/>
    </mc:Choice>
    <mc:Fallback xmlns="">
      <p:transition spd="slow" advTm="7488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DC45A2-29F2-439D-863B-D9466934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u="sng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יחידה מס 5- סכום </a:t>
            </a:r>
            <a:endParaRPr lang="en-IL" b="1" u="sng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5490AD9-58B0-40A3-B956-B572BE18A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he-IL" sz="2400" strike="sngStrike" dirty="0">
                <a:latin typeface="Calibri" panose="020F0502020204030204" pitchFamily="34" charset="0"/>
                <a:cs typeface="Calibri" panose="020F0502020204030204" pitchFamily="34" charset="0"/>
              </a:rPr>
              <a:t>יחידה מס 1-  חזרה על שיעורים קודמים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strike="sngStrike" dirty="0">
                <a:latin typeface="Calibri" panose="020F0502020204030204" pitchFamily="34" charset="0"/>
                <a:cs typeface="Calibri" panose="020F0502020204030204" pitchFamily="34" charset="0"/>
              </a:rPr>
              <a:t>יחידה מס 2- למה לשמר לקוח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strike="sngStrike" dirty="0">
                <a:latin typeface="Calibri" panose="020F0502020204030204" pitchFamily="34" charset="0"/>
                <a:cs typeface="Calibri" panose="020F0502020204030204" pitchFamily="34" charset="0"/>
              </a:rPr>
              <a:t>יחידה מס 3- איך לשמר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strike="sngStrike" dirty="0">
                <a:latin typeface="Calibri" panose="020F0502020204030204" pitchFamily="34" charset="0"/>
                <a:cs typeface="Calibri" panose="020F0502020204030204" pitchFamily="34" charset="0"/>
              </a:rPr>
              <a:t>יחידה מס 4- תרגיל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יחידה מס 5- סכום </a:t>
            </a:r>
          </a:p>
          <a:p>
            <a:pPr marL="0" indent="0">
              <a:buNone/>
            </a:pPr>
            <a:endParaRPr lang="en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6040278-E517-4F6F-AEA6-74794F257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ד"ר איריס גרטנרמוריוסף המכללה האקדמית הדסה</a:t>
            </a:r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OK יועצים לניהול">
            <a:extLst>
              <a:ext uri="{FF2B5EF4-FFF2-40B4-BE49-F238E27FC236}">
                <a16:creationId xmlns:a16="http://schemas.microsoft.com/office/drawing/2014/main" id="{CABA1187-4B7A-44E6-9C2A-15B3B54A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736" y="4001294"/>
            <a:ext cx="362902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58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87"/>
    </mc:Choice>
    <mc:Fallback xmlns="">
      <p:transition spd="slow" advTm="1238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-1676400" y="-23258"/>
            <a:ext cx="77724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8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סכום השיעור </a:t>
            </a:r>
            <a:endParaRPr kumimoji="0" lang="en-US" altLang="he-IL" sz="4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2523804" y="269049"/>
            <a:ext cx="9407056" cy="4454525"/>
          </a:xfrm>
          <a:prstGeom prst="rect">
            <a:avLst/>
          </a:prstGeom>
          <a:noFill/>
          <a:ln w="12700" cap="sq">
            <a:solidFill>
              <a:schemeClr val="accent1">
                <a:alpha val="13000"/>
              </a:schemeClr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1pPr>
            <a:lvl2pPr marL="990600" indent="-533400"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3pPr>
            <a:lvl4pPr marL="1752600" indent="-381000"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4pPr>
            <a:lvl5pPr marL="2209800" indent="-381000"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5pPr>
            <a:lvl6pPr marL="2667000" indent="-381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6pPr>
            <a:lvl7pPr marL="3124200" indent="-381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7pPr>
            <a:lvl8pPr marL="3581400" indent="-381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8pPr>
            <a:lvl9pPr marL="4038600" indent="-381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 (Hebrew)" pitchFamily="26" charset="0"/>
              </a:defRPr>
            </a:lvl9pPr>
          </a:lstStyle>
          <a:p>
            <a:pPr marL="609600" marR="0" lvl="0" indent="-609600" algn="r" defTabSz="914400" rtl="1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הבדלים בין שירות למוצר מחייבים לייצר חווית לקוח </a:t>
            </a:r>
          </a:p>
          <a:p>
            <a:pPr marL="609600" marR="0" lvl="0" indent="-609600" algn="r" defTabSz="914400" rtl="1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הלקוח הוא הגורם החשוב ביותר בארגון </a:t>
            </a:r>
          </a:p>
          <a:p>
            <a:pPr marL="609600" marR="0" lvl="0" indent="-609600" algn="r" defTabSz="914400" rtl="1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עדיף להגדיל נתח לקוח מאשר נתח שוק.</a:t>
            </a:r>
          </a:p>
          <a:p>
            <a:pPr marL="609600" marR="0" lvl="0" indent="-609600" algn="r" defTabSz="914400" rtl="1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חשוב להביא את הלקוח ועוד יותר חשוב לשמר אותו</a:t>
            </a:r>
          </a:p>
          <a:p>
            <a:pPr marL="609600" marR="0" lvl="0" indent="-609600" algn="r" defTabSz="914400" rtl="1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he-IL" alt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דרכים לשימור לקוחות :</a:t>
            </a:r>
            <a:r>
              <a:rPr kumimoji="0" lang="en-US" alt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endParaRPr kumimoji="0" lang="he-IL" altLang="he-IL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609600" marR="0" lvl="0" indent="-609600" algn="r" defTabSz="914400" rtl="1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Tx/>
              <a:buChar char="-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תיאום ציפיות </a:t>
            </a:r>
          </a:p>
          <a:p>
            <a:pPr marL="609600" marR="0" lvl="0" indent="-609600" algn="r" defTabSz="914400" rtl="1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Tx/>
              <a:buChar char="-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תשאול לאחר קניה</a:t>
            </a:r>
          </a:p>
          <a:p>
            <a:pPr marL="609600" marR="0" lvl="0" indent="-609600" algn="r" defTabSz="914400" rtl="1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Tx/>
              <a:buChar char="-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מערכת יחסים עם לקוחות </a:t>
            </a:r>
          </a:p>
          <a:p>
            <a:pPr marL="609600" marR="0" lvl="0" indent="-609600" algn="r" defTabSz="914400" rtl="1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Tx/>
              <a:buChar char="-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משוב </a:t>
            </a:r>
          </a:p>
          <a:p>
            <a:pPr marL="609600" marR="0" lvl="0" indent="-609600" algn="r" defTabSz="914400" rtl="1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Tx/>
              <a:buChar char="-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טיפול בתלונה </a:t>
            </a:r>
          </a:p>
          <a:p>
            <a:pPr marL="609600" marR="0" lvl="0" indent="-609600" algn="r" defTabSz="914400" rtl="1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Tx/>
              <a:buChar char="-"/>
              <a:tabLst/>
              <a:defRPr/>
            </a:pPr>
            <a:r>
              <a:rPr kumimoji="0" lang="he-IL" altLang="he-I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פיצוי הוגן </a:t>
            </a:r>
          </a:p>
          <a:p>
            <a:pPr marL="609600" marR="0" lvl="0" indent="-6096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Tx/>
              <a:buChar char="-"/>
              <a:tabLst/>
              <a:defRPr/>
            </a:pPr>
            <a:endParaRPr kumimoji="0" lang="he-IL" altLang="he-IL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609600" marR="0" lvl="0" indent="-6096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Tx/>
              <a:buChar char="-"/>
              <a:tabLst/>
              <a:defRPr/>
            </a:pPr>
            <a:endParaRPr kumimoji="0" lang="he-IL" altLang="he-IL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609600" marR="0" lvl="0" indent="-6096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A0000"/>
              </a:buClr>
              <a:buSzPct val="75000"/>
              <a:buFontTx/>
              <a:buAutoNum type="arabicPeriod"/>
              <a:tabLst/>
              <a:defRPr/>
            </a:pPr>
            <a:endParaRPr kumimoji="0" lang="en-US" altLang="he-IL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Times New Roman (Hebrew)" pitchFamily="26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758672C-11B6-46B1-82D2-8C9C3922E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ד"ר איריס גרטנרמוריוסף המכללה האקדמית הדסה</a:t>
            </a:r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0677A4D-62D7-486B-8015-55EA1AD6C53A}"/>
              </a:ext>
            </a:extLst>
          </p:cNvPr>
          <p:cNvSpPr txBox="1"/>
          <p:nvPr/>
        </p:nvSpPr>
        <p:spPr>
          <a:xfrm>
            <a:off x="3216583" y="5532993"/>
            <a:ext cx="6077119" cy="8002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עדיף להפסיד את המכירה ולא את הלקוח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384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222"/>
    </mc:Choice>
    <mc:Fallback xmlns="">
      <p:transition spd="slow" advTm="1242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1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17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7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7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17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7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7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0.4|6.1|4.7|2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2|62.7|62.1|26.6|56|71.9|1.2|84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7"/>
</p:tagLst>
</file>

<file path=ppt/theme/theme1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880</Words>
  <Application>Microsoft Office PowerPoint</Application>
  <PresentationFormat>מסך רחב</PresentationFormat>
  <Paragraphs>156</Paragraphs>
  <Slides>15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4</vt:i4>
      </vt:variant>
      <vt:variant>
        <vt:lpstr>כותרות שקופיות</vt:lpstr>
      </vt:variant>
      <vt:variant>
        <vt:i4>15</vt:i4>
      </vt:variant>
    </vt:vector>
  </HeadingPairs>
  <TitlesOfParts>
    <vt:vector size="26" baseType="lpstr">
      <vt:lpstr>Arial</vt:lpstr>
      <vt:lpstr>Calibri</vt:lpstr>
      <vt:lpstr>Calibri Light</vt:lpstr>
      <vt:lpstr>Century Gothic</vt:lpstr>
      <vt:lpstr>Times New Roman</vt:lpstr>
      <vt:lpstr>Verdana</vt:lpstr>
      <vt:lpstr>Wingdings</vt:lpstr>
      <vt:lpstr>1_ערכת נושא Office</vt:lpstr>
      <vt:lpstr>5_Office Theme</vt:lpstr>
      <vt:lpstr>ערכת נושא Office</vt:lpstr>
      <vt:lpstr>2_ערכת נושא Office</vt:lpstr>
      <vt:lpstr>שימור לקוחות והתנהגות אחרי קניה - שיעור א- סנכרוני  </vt:lpstr>
      <vt:lpstr>מצגת של PowerPoint‏</vt:lpstr>
      <vt:lpstr>יחידה מס 1- רציונל של התנהגות אחרי קניה </vt:lpstr>
      <vt:lpstr>מצגת של PowerPoint‏</vt:lpstr>
      <vt:lpstr>שימור לקוחות – מה זה? </vt:lpstr>
      <vt:lpstr>שימור לקוחות –למה? </vt:lpstr>
      <vt:lpstr>למה לשמר לקוחות/המשך</vt:lpstr>
      <vt:lpstr>יחידה 3- שימור לקוחות </vt:lpstr>
      <vt:lpstr>שימור לקוחות </vt:lpstr>
      <vt:lpstr>שימור לקוחות – המשך </vt:lpstr>
      <vt:lpstr>שימור לקוחות – המשך </vt:lpstr>
      <vt:lpstr>דרכים לשימור הלקוח לפני תלונה: </vt:lpstr>
      <vt:lpstr>יחידה מס 4- תרגול אמצע </vt:lpstr>
      <vt:lpstr>יחידה מס 5- סכום 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שיעור מס 4  שימור לקוחות  שיעור א- סנכרוני 8.11.2020</dc:title>
  <dc:creator>Iris Gertner</dc:creator>
  <cp:lastModifiedBy>Iris Gertner</cp:lastModifiedBy>
  <cp:revision>13</cp:revision>
  <dcterms:created xsi:type="dcterms:W3CDTF">2020-10-09T11:09:26Z</dcterms:created>
  <dcterms:modified xsi:type="dcterms:W3CDTF">2024-01-23T17:43:14Z</dcterms:modified>
</cp:coreProperties>
</file>